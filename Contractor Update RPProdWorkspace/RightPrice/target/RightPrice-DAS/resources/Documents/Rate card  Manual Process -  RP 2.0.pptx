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2"/>
  </p:handoutMasterIdLst>
  <p:sldIdLst>
    <p:sldId id="257" r:id="rId2"/>
    <p:sldId id="262" r:id="rId3"/>
    <p:sldId id="292" r:id="rId4"/>
    <p:sldId id="293" r:id="rId5"/>
    <p:sldId id="294" r:id="rId6"/>
    <p:sldId id="263" r:id="rId7"/>
    <p:sldId id="264" r:id="rId8"/>
    <p:sldId id="291" r:id="rId9"/>
    <p:sldId id="265" r:id="rId10"/>
    <p:sldId id="266" r:id="rId11"/>
    <p:sldId id="267" r:id="rId12"/>
    <p:sldId id="268" r:id="rId13"/>
    <p:sldId id="269" r:id="rId14"/>
    <p:sldId id="270" r:id="rId15"/>
    <p:sldId id="272" r:id="rId16"/>
    <p:sldId id="271" r:id="rId17"/>
    <p:sldId id="274" r:id="rId18"/>
    <p:sldId id="275" r:id="rId19"/>
    <p:sldId id="276" r:id="rId20"/>
    <p:sldId id="260" r:id="rId21"/>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09" userDrawn="1">
          <p15:clr>
            <a:srgbClr val="A4A3A4"/>
          </p15:clr>
        </p15:guide>
        <p15:guide id="2" pos="7533" userDrawn="1">
          <p15:clr>
            <a:srgbClr val="A4A3A4"/>
          </p15:clr>
        </p15:guide>
        <p15:guide id="3" orient="horz" pos="4032" userDrawn="1">
          <p15:clr>
            <a:srgbClr val="A4A3A4"/>
          </p15:clr>
        </p15:guide>
        <p15:guide id="4" pos="2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showGuides="1">
      <p:cViewPr varScale="1">
        <p:scale>
          <a:sx n="76" d="100"/>
          <a:sy n="76" d="100"/>
        </p:scale>
        <p:origin x="126" y="792"/>
      </p:cViewPr>
      <p:guideLst>
        <p:guide orient="horz" pos="909"/>
        <p:guide pos="7533"/>
        <p:guide orient="horz" pos="4032"/>
        <p:guide pos="239"/>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3" d="100"/>
          <a:sy n="63" d="100"/>
        </p:scale>
        <p:origin x="2838"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3017FB-A3A3-4636-8859-DF1D178384E4}" type="datetimeFigureOut">
              <a:rPr lang="en-GB" smtClean="0"/>
              <a:t>28/02/2019</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50807-FC0B-4E7C-A840-341EC805AA05}" type="slidenum">
              <a:rPr lang="en-GB" smtClean="0"/>
              <a:t>‹#›</a:t>
            </a:fld>
            <a:endParaRPr lang="en-GB" dirty="0"/>
          </a:p>
        </p:txBody>
      </p:sp>
    </p:spTree>
    <p:extLst>
      <p:ext uri="{BB962C8B-B14F-4D97-AF65-F5344CB8AC3E}">
        <p14:creationId xmlns:p14="http://schemas.microsoft.com/office/powerpoint/2010/main" val="20710063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AAB3C45-CA8C-4F49-82D6-C9852E174F8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390532" y="2950236"/>
            <a:ext cx="11160125" cy="984885"/>
          </a:xfrm>
        </p:spPr>
        <p:txBody>
          <a:bodyPr tIns="0" bIns="0" anchor="ctr">
            <a:spAutoFit/>
          </a:bodyPr>
          <a:lstStyle>
            <a:lvl1pPr algn="l">
              <a:defRPr sz="6400" b="0">
                <a:solidFill>
                  <a:schemeClr val="bg1"/>
                </a:solidFill>
              </a:defRPr>
            </a:lvl1pPr>
          </a:lstStyle>
          <a:p>
            <a:r>
              <a:rPr lang="en-US" dirty="0"/>
              <a:t>Cover Title</a:t>
            </a:r>
          </a:p>
        </p:txBody>
      </p:sp>
      <p:sp>
        <p:nvSpPr>
          <p:cNvPr id="3" name="Subtitle 2"/>
          <p:cNvSpPr>
            <a:spLocks noGrp="1"/>
          </p:cNvSpPr>
          <p:nvPr>
            <p:ph type="subTitle" idx="1" hasCustomPrompt="1"/>
          </p:nvPr>
        </p:nvSpPr>
        <p:spPr>
          <a:xfrm>
            <a:off x="390533" y="5703555"/>
            <a:ext cx="3713601" cy="287259"/>
          </a:xfrm>
        </p:spPr>
        <p:txBody>
          <a:bodyPr wrap="none" anchor="b"/>
          <a:lstStyle>
            <a:lvl1pPr marL="0" indent="0" algn="l">
              <a:buNone/>
              <a:defRPr sz="18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Date</a:t>
            </a:r>
          </a:p>
        </p:txBody>
      </p:sp>
      <p:pic>
        <p:nvPicPr>
          <p:cNvPr id="11" name="Picture 10">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Classification"/>
          <p:cNvSpPr txBox="1">
            <a:spLocks noChangeArrowheads="1"/>
          </p:cNvSpPr>
          <p:nvPr userDrawn="1"/>
        </p:nvSpPr>
        <p:spPr bwMode="auto">
          <a:xfrm>
            <a:off x="5356055" y="6233424"/>
            <a:ext cx="1479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1000" b="0" dirty="0">
                <a:solidFill>
                  <a:schemeClr val="bg1"/>
                </a:solidFill>
                <a:latin typeface="+mn-lt"/>
                <a:ea typeface="Verdana" pitchFamily="34" charset="0"/>
                <a:cs typeface="Verdana" pitchFamily="34" charset="0"/>
              </a:rPr>
              <a:t>© 2018 Syntel, Inc.</a:t>
            </a:r>
          </a:p>
        </p:txBody>
      </p:sp>
      <p:pic>
        <p:nvPicPr>
          <p:cNvPr id="12" name="Pictur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6075" y="6316801"/>
            <a:ext cx="2180299" cy="114767"/>
          </a:xfrm>
          <a:prstGeom prst="rect">
            <a:avLst/>
          </a:prstGeom>
        </p:spPr>
      </p:pic>
    </p:spTree>
    <p:extLst>
      <p:ext uri="{BB962C8B-B14F-4D97-AF65-F5344CB8AC3E}">
        <p14:creationId xmlns:p14="http://schemas.microsoft.com/office/powerpoint/2010/main" val="20617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
        <p:nvSpPr>
          <p:cNvPr id="10" name="Text Placeholder 9"/>
          <p:cNvSpPr>
            <a:spLocks noGrp="1"/>
          </p:cNvSpPr>
          <p:nvPr>
            <p:ph type="body" sz="quarter" idx="11" hasCustomPrompt="1"/>
          </p:nvPr>
        </p:nvSpPr>
        <p:spPr>
          <a:xfrm>
            <a:off x="385665" y="1454400"/>
            <a:ext cx="11570208" cy="4535424"/>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8683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Tree>
    <p:extLst>
      <p:ext uri="{BB962C8B-B14F-4D97-AF65-F5344CB8AC3E}">
        <p14:creationId xmlns:p14="http://schemas.microsoft.com/office/powerpoint/2010/main" val="417476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WO Toplin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pic>
        <p:nvPicPr>
          <p:cNvPr id="5" name="Picture 4">
            <a:extLst>
              <a:ext uri="{FF2B5EF4-FFF2-40B4-BE49-F238E27FC236}">
                <a16:creationId xmlns:a16="http://schemas.microsoft.com/office/drawing/2014/main" id="{606E602D-FA1B-4AE5-B8F2-F42DAE337B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6" name="Straight Connector 5"/>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7"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329378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94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gray">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E1C74D-134F-4EB2-9532-ED3805FDC8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TextBox 9"/>
          <p:cNvSpPr txBox="1"/>
          <p:nvPr userDrawn="1"/>
        </p:nvSpPr>
        <p:spPr>
          <a:xfrm>
            <a:off x="395394" y="1218353"/>
            <a:ext cx="5351401" cy="1231106"/>
          </a:xfrm>
          <a:prstGeom prst="rect">
            <a:avLst/>
          </a:prstGeom>
          <a:noFill/>
        </p:spPr>
        <p:txBody>
          <a:bodyPr wrap="none" lIns="0" tIns="0" rIns="0" bIns="0" rtlCol="0">
            <a:spAutoFit/>
          </a:bodyPr>
          <a:lstStyle/>
          <a:p>
            <a:r>
              <a:rPr lang="en-GB" sz="8000" dirty="0">
                <a:solidFill>
                  <a:schemeClr val="bg1"/>
                </a:solidFill>
              </a:rPr>
              <a:t>Thank You</a:t>
            </a:r>
          </a:p>
        </p:txBody>
      </p:sp>
      <p:pic>
        <p:nvPicPr>
          <p:cNvPr id="9" name="Picture 8">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Notifier#1"/>
          <p:cNvSpPr txBox="1">
            <a:spLocks noChangeArrowheads="1"/>
          </p:cNvSpPr>
          <p:nvPr userDrawn="1"/>
        </p:nvSpPr>
        <p:spPr bwMode="auto">
          <a:xfrm>
            <a:off x="397449" y="5859664"/>
            <a:ext cx="6732556" cy="57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900" kern="1200" dirty="0">
                <a:solidFill>
                  <a:schemeClr val="bg1"/>
                </a:solidFill>
                <a:latin typeface="+mn-lt"/>
                <a:ea typeface="Verdana" pitchFamily="34" charset="0"/>
                <a:cs typeface="Verdana" pitchFamily="34" charset="0"/>
              </a:rPr>
              <a:t>Atos, the Atos logo, Atos Codex, Atos Consulting, Atos Syntel, Atos Worldgrid, Bull, Canopy, equensWorldline, Unify, Worldline and Zero Email are registered trademarks of the Atos group. September 2018. © 2018 Atos. Confidential information owned by Atos, to be used by the recipient only. This document, or any part of it, may not be reproduced, copied, circulated and/or distributed nor quoted without prior written approval from Atos.</a:t>
            </a:r>
            <a:endParaRPr lang="en-US" sz="900" dirty="0">
              <a:solidFill>
                <a:schemeClr val="bg1"/>
              </a:solidFill>
              <a:latin typeface="+mn-lt"/>
              <a:ea typeface="Verdana" pitchFamily="34" charset="0"/>
              <a:cs typeface="Verdana" pitchFamily="34" charset="0"/>
            </a:endParaRPr>
          </a:p>
        </p:txBody>
      </p:sp>
    </p:spTree>
    <p:extLst>
      <p:ext uri="{BB962C8B-B14F-4D97-AF65-F5344CB8AC3E}">
        <p14:creationId xmlns:p14="http://schemas.microsoft.com/office/powerpoint/2010/main" val="363703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pic>
        <p:nvPicPr>
          <p:cNvPr id="69" name="Picture 6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 y="2079122"/>
            <a:ext cx="12222469"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650160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936" y="2046008"/>
            <a:ext cx="12256619" cy="273411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719359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253"/>
            <a:ext cx="12240683" cy="273562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08517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9122"/>
            <a:ext cx="12240683"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3438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0683" cy="2701776"/>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1520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6">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40489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7">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13974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8">
    <p:bg>
      <p:bgPr>
        <a:solidFill>
          <a:schemeClr val="accent1"/>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18532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9">
    <p:bg>
      <p:bgPr>
        <a:solidFill>
          <a:schemeClr val="accent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98839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1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317045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11">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029" y="2080354"/>
            <a:ext cx="12263712" cy="2697292"/>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5991572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12">
    <p:bg>
      <p:bgPr>
        <a:solidFill>
          <a:schemeClr val="accent1"/>
        </a:solidFill>
        <a:effectLst/>
      </p:bgPr>
    </p:bg>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08"/>
            <a:ext cx="12248651" cy="2734113"/>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37197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13">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026"/>
            <a:ext cx="12248651"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6241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14">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6314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15">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8651" cy="2701776"/>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3246901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16">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090660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7">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79346"/>
            <a:ext cx="12272555" cy="2699309"/>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893104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8">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026"/>
            <a:ext cx="12272555"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9655939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19">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253"/>
            <a:ext cx="12272555" cy="2735623"/>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2263715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2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67175"/>
            <a:ext cx="12272555" cy="2723651"/>
          </a:xfrm>
          <a:prstGeom prst="rect">
            <a:avLst/>
          </a:prstGeom>
        </p:spPr>
      </p:pic>
      <p:sp>
        <p:nvSpPr>
          <p:cNvPr id="5" name="Text Placeholder 4"/>
          <p:cNvSpPr>
            <a:spLocks noGrp="1"/>
          </p:cNvSpPr>
          <p:nvPr>
            <p:ph type="body" sz="quarter" idx="10"/>
          </p:nvPr>
        </p:nvSpPr>
        <p:spPr>
          <a:xfrm>
            <a:off x="6642099" y="2247901"/>
            <a:ext cx="53255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599150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5665" y="164637"/>
            <a:ext cx="11566985" cy="963168"/>
          </a:xfrm>
          <a:prstGeom prst="rect">
            <a:avLst/>
          </a:prstGeom>
        </p:spPr>
        <p:txBody>
          <a:bodyPr vert="horz" lIns="0" tIns="45720" rIns="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5665" y="1454400"/>
            <a:ext cx="11570208" cy="4535424"/>
          </a:xfrm>
          <a:prstGeom prst="rect">
            <a:avLst/>
          </a:prstGeom>
        </p:spPr>
        <p:txBody>
          <a:bodyPr vert="horz" lIns="0" tIns="0" rIns="0" bIns="0" rtlCol="0">
            <a:no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2" name="Straight Connector 31"/>
          <p:cNvCxnSpPr>
            <a:cxnSpLocks/>
          </p:cNvCxnSpPr>
          <p:nvPr userDrawn="1"/>
        </p:nvCxnSpPr>
        <p:spPr>
          <a:xfrm>
            <a:off x="385666" y="1259909"/>
            <a:ext cx="11813909" cy="0"/>
          </a:xfrm>
          <a:prstGeom prst="line">
            <a:avLst/>
          </a:prstGeom>
          <a:ln w="15875"/>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606E602D-FA1B-4AE5-B8F2-F42DAE337BD8}"/>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34" name="Straight Connector 33"/>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8"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29">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474966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8" r:id="rId4"/>
    <p:sldLayoutId id="2147483690" r:id="rId5"/>
    <p:sldLayoutId id="2147483689"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Lst>
  <p:txStyles>
    <p:titleStyle>
      <a:lvl1pPr algn="l" defTabSz="914377"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365751" indent="-365751" algn="l" defTabSz="914377" rtl="0" eaLnBrk="1" latinLnBrk="0" hangingPunct="1">
        <a:lnSpc>
          <a:spcPct val="100000"/>
        </a:lnSpc>
        <a:spcBef>
          <a:spcPts val="0"/>
        </a:spcBef>
        <a:spcAft>
          <a:spcPts val="400"/>
        </a:spcAft>
        <a:buClr>
          <a:schemeClr val="accent1"/>
        </a:buClr>
        <a:buFont typeface="Lucida Sans Unicode" panose="020B0602030504020204" pitchFamily="34" charset="0"/>
        <a:buChar char="▶"/>
        <a:defRPr sz="1800" kern="1200">
          <a:solidFill>
            <a:schemeClr val="tx1"/>
          </a:solidFill>
          <a:latin typeface="+mn-lt"/>
          <a:ea typeface="+mn-ea"/>
          <a:cs typeface="+mn-cs"/>
        </a:defRPr>
      </a:lvl1pPr>
      <a:lvl2pPr marL="731502"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532" userDrawn="1">
          <p15:clr>
            <a:srgbClr val="F26B43"/>
          </p15:clr>
        </p15:guide>
        <p15:guide id="2" orient="horz" pos="911" userDrawn="1">
          <p15:clr>
            <a:srgbClr val="F26B43"/>
          </p15:clr>
        </p15:guide>
        <p15:guide id="3" orient="horz" pos="3779" userDrawn="1">
          <p15:clr>
            <a:srgbClr val="F26B43"/>
          </p15:clr>
        </p15:guide>
        <p15:guide id="4" pos="23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532" y="2535026"/>
            <a:ext cx="11623668" cy="982874"/>
          </a:xfrm>
        </p:spPr>
        <p:txBody>
          <a:bodyPr/>
          <a:lstStyle/>
          <a:p>
            <a:r>
              <a:rPr lang="en-GB" sz="4000" dirty="0" smtClean="0"/>
              <a:t>Rate Card flow in Right Price 2.0 Application</a:t>
            </a:r>
            <a:endParaRPr lang="en-GB" sz="4000" dirty="0"/>
          </a:p>
        </p:txBody>
      </p:sp>
      <p:sp>
        <p:nvSpPr>
          <p:cNvPr id="3" name="Subtitle 2"/>
          <p:cNvSpPr>
            <a:spLocks noGrp="1"/>
          </p:cNvSpPr>
          <p:nvPr>
            <p:ph type="subTitle" idx="1"/>
          </p:nvPr>
        </p:nvSpPr>
        <p:spPr/>
        <p:txBody>
          <a:bodyPr/>
          <a:lstStyle/>
          <a:p>
            <a:r>
              <a:rPr lang="en-GB" dirty="0" smtClean="0"/>
              <a:t>20</a:t>
            </a:r>
            <a:r>
              <a:rPr lang="en-GB" baseline="30000" dirty="0" smtClean="0"/>
              <a:t>th</a:t>
            </a:r>
            <a:r>
              <a:rPr lang="en-GB" dirty="0" smtClean="0"/>
              <a:t> February,2019</a:t>
            </a:r>
            <a:endParaRPr lang="en-GB" dirty="0"/>
          </a:p>
        </p:txBody>
      </p:sp>
    </p:spTree>
    <p:extLst>
      <p:ext uri="{BB962C8B-B14F-4D97-AF65-F5344CB8AC3E}">
        <p14:creationId xmlns:p14="http://schemas.microsoft.com/office/powerpoint/2010/main" val="35193222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85664" y="761999"/>
            <a:ext cx="11570208" cy="645205"/>
          </a:xfrm>
        </p:spPr>
        <p:txBody>
          <a:bodyPr/>
          <a:lstStyle/>
          <a:p>
            <a:r>
              <a:rPr lang="en-GB" sz="2800" dirty="0" smtClean="0"/>
              <a:t>Table of Contents</a:t>
            </a:r>
            <a:endParaRPr lang="en-GB" sz="2800" dirty="0"/>
          </a:p>
        </p:txBody>
      </p:sp>
      <p:sp>
        <p:nvSpPr>
          <p:cNvPr id="2" name="Rectangle 1"/>
          <p:cNvSpPr/>
          <p:nvPr/>
        </p:nvSpPr>
        <p:spPr>
          <a:xfrm>
            <a:off x="385664" y="1558598"/>
            <a:ext cx="11570208" cy="4770537"/>
          </a:xfrm>
          <a:prstGeom prst="rect">
            <a:avLst/>
          </a:prstGeom>
        </p:spPr>
        <p:txBody>
          <a:bodyPr wrap="square">
            <a:spAutoFit/>
          </a:bodyPr>
          <a:lstStyle/>
          <a:p>
            <a:r>
              <a:rPr lang="en-US" sz="1800" b="1" dirty="0" smtClean="0">
                <a:solidFill>
                  <a:srgbClr val="000000"/>
                </a:solidFill>
                <a:latin typeface="+mj-lt"/>
              </a:rPr>
              <a:t>Introduction:</a:t>
            </a:r>
          </a:p>
          <a:p>
            <a:endParaRPr lang="en-US" sz="1800" b="1" dirty="0" smtClean="0">
              <a:solidFill>
                <a:srgbClr val="000000"/>
              </a:solidFill>
              <a:latin typeface="+mj-lt"/>
            </a:endParaRPr>
          </a:p>
          <a:p>
            <a:r>
              <a:rPr lang="en-US" sz="1600" dirty="0" smtClean="0">
                <a:solidFill>
                  <a:srgbClr val="000000"/>
                </a:solidFill>
                <a:latin typeface="+mj-lt"/>
              </a:rPr>
              <a:t>Right </a:t>
            </a:r>
            <a:r>
              <a:rPr lang="en-US" sz="1600" dirty="0">
                <a:solidFill>
                  <a:srgbClr val="000000"/>
                </a:solidFill>
                <a:latin typeface="+mj-lt"/>
              </a:rPr>
              <a:t>Price 2.0 portal is an enhanced version of the existing Right Price application with new, improvised additional features. The purpose or intent of the document is to capture to be functionality and overall flow of the application. The intent of new portal is to create an application with better User interface, maintainable application with performance improvements</a:t>
            </a:r>
            <a:r>
              <a:rPr lang="en-US" sz="1600" dirty="0" smtClean="0">
                <a:solidFill>
                  <a:srgbClr val="000000"/>
                </a:solidFill>
                <a:latin typeface="+mj-lt"/>
              </a:rPr>
              <a:t>.</a:t>
            </a:r>
          </a:p>
          <a:p>
            <a:endParaRPr lang="en-US" sz="1800" dirty="0" smtClean="0">
              <a:solidFill>
                <a:srgbClr val="000000"/>
              </a:solidFill>
              <a:latin typeface="+mj-lt"/>
            </a:endParaRPr>
          </a:p>
          <a:p>
            <a:endParaRPr lang="en-US" sz="1800" dirty="0">
              <a:solidFill>
                <a:srgbClr val="000000"/>
              </a:solidFill>
              <a:latin typeface="+mj-lt"/>
            </a:endParaRPr>
          </a:p>
          <a:p>
            <a:r>
              <a:rPr lang="en-US" sz="1800" b="1" dirty="0">
                <a:latin typeface="+mj-lt"/>
              </a:rPr>
              <a:t>Table of </a:t>
            </a:r>
            <a:r>
              <a:rPr lang="en-US" sz="1800" b="1" dirty="0" smtClean="0">
                <a:latin typeface="+mj-lt"/>
              </a:rPr>
              <a:t>Contents:</a:t>
            </a:r>
          </a:p>
          <a:p>
            <a:endParaRPr lang="en-US" sz="1600" dirty="0" smtClean="0">
              <a:latin typeface="+mj-lt"/>
            </a:endParaRPr>
          </a:p>
          <a:p>
            <a:r>
              <a:rPr lang="en-US" sz="1600" dirty="0" smtClean="0">
                <a:latin typeface="+mj-lt"/>
              </a:rPr>
              <a:t>The </a:t>
            </a:r>
            <a:r>
              <a:rPr lang="en-US" sz="1600" dirty="0">
                <a:latin typeface="+mj-lt"/>
              </a:rPr>
              <a:t>document is exclusively meant for Atos Syntel Employees having valid Syntel credentials belonging to either Delivery, </a:t>
            </a:r>
            <a:r>
              <a:rPr lang="en-US" sz="1600" dirty="0" smtClean="0">
                <a:latin typeface="+mj-lt"/>
              </a:rPr>
              <a:t>GFT</a:t>
            </a:r>
            <a:r>
              <a:rPr lang="en-US" sz="1600" dirty="0">
                <a:latin typeface="+mj-lt"/>
              </a:rPr>
              <a:t>, BU Head, CDO, CEO Delivery Head or CEO Office.</a:t>
            </a:r>
            <a:endParaRPr lang="en-US" sz="1600" dirty="0" smtClean="0">
              <a:latin typeface="+mj-lt"/>
            </a:endParaRPr>
          </a:p>
          <a:p>
            <a:endParaRPr lang="en-US" sz="2000" dirty="0">
              <a:latin typeface="+mj-lt"/>
            </a:endParaRPr>
          </a:p>
          <a:p>
            <a:endParaRPr lang="en-US" sz="2000" dirty="0" smtClean="0">
              <a:latin typeface="+mj-lt"/>
            </a:endParaRPr>
          </a:p>
          <a:p>
            <a:endParaRPr lang="en-US" sz="2000" dirty="0">
              <a:latin typeface="+mj-lt"/>
            </a:endParaRPr>
          </a:p>
          <a:p>
            <a:endParaRPr lang="en-US" sz="2000" dirty="0">
              <a:latin typeface="+mj-lt"/>
            </a:endParaRPr>
          </a:p>
          <a:p>
            <a:endParaRPr lang="en-US" sz="2000" dirty="0">
              <a:latin typeface="+mj-lt"/>
            </a:endParaRPr>
          </a:p>
        </p:txBody>
      </p:sp>
    </p:spTree>
    <p:extLst>
      <p:ext uri="{BB962C8B-B14F-4D97-AF65-F5344CB8AC3E}">
        <p14:creationId xmlns:p14="http://schemas.microsoft.com/office/powerpoint/2010/main" val="1980748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87400"/>
            <a:ext cx="11570208" cy="278388"/>
          </a:xfrm>
        </p:spPr>
        <p:txBody>
          <a:bodyPr/>
          <a:lstStyle/>
          <a:p>
            <a:r>
              <a:rPr lang="en-GB" sz="2800" dirty="0"/>
              <a:t>Table of Contents</a:t>
            </a:r>
          </a:p>
          <a:p>
            <a:endParaRPr lang="en-US" sz="2800" dirty="0"/>
          </a:p>
        </p:txBody>
      </p:sp>
      <p:sp>
        <p:nvSpPr>
          <p:cNvPr id="7" name="TextBox 6"/>
          <p:cNvSpPr txBox="1"/>
          <p:nvPr/>
        </p:nvSpPr>
        <p:spPr>
          <a:xfrm>
            <a:off x="385664" y="1065788"/>
            <a:ext cx="7010400" cy="3139321"/>
          </a:xfrm>
          <a:prstGeom prst="rect">
            <a:avLst/>
          </a:prstGeom>
          <a:noFill/>
        </p:spPr>
        <p:txBody>
          <a:bodyPr wrap="square" rtlCol="0">
            <a:spAutoFit/>
          </a:bodyPr>
          <a:lstStyle/>
          <a:p>
            <a:endParaRPr lang="en-US" sz="1400" dirty="0" smtClean="0"/>
          </a:p>
          <a:p>
            <a:endParaRPr lang="en-US" sz="1600" dirty="0"/>
          </a:p>
          <a:p>
            <a:r>
              <a:rPr lang="en-US" sz="1600" dirty="0" smtClean="0"/>
              <a:t>Below are the screens available under Rate card Menu:</a:t>
            </a:r>
          </a:p>
          <a:p>
            <a:pPr marL="342900" indent="-342900">
              <a:buFont typeface="Arial" panose="020B0604020202020204" pitchFamily="34" charset="0"/>
              <a:buChar char="•"/>
            </a:pPr>
            <a:r>
              <a:rPr lang="en-US" sz="1600" dirty="0"/>
              <a:t>Rate Card Creation </a:t>
            </a:r>
            <a:r>
              <a:rPr lang="en-US" sz="1600" dirty="0" smtClean="0"/>
              <a:t>– Details</a:t>
            </a:r>
          </a:p>
          <a:p>
            <a:pPr marL="342900" indent="-342900">
              <a:buFont typeface="Arial" panose="020B0604020202020204" pitchFamily="34" charset="0"/>
              <a:buChar char="•"/>
            </a:pPr>
            <a:r>
              <a:rPr lang="en-US" sz="1600" dirty="0"/>
              <a:t>Role </a:t>
            </a:r>
            <a:r>
              <a:rPr lang="en-US" sz="1600" dirty="0" smtClean="0"/>
              <a:t>Selection</a:t>
            </a:r>
          </a:p>
          <a:p>
            <a:pPr marL="342900" indent="-342900">
              <a:buFont typeface="Arial" panose="020B0604020202020204" pitchFamily="34" charset="0"/>
              <a:buChar char="•"/>
            </a:pPr>
            <a:r>
              <a:rPr lang="en-US" sz="1600" dirty="0" smtClean="0"/>
              <a:t>Role </a:t>
            </a:r>
            <a:r>
              <a:rPr lang="en-US" sz="1600" dirty="0"/>
              <a:t>Utilization And </a:t>
            </a:r>
            <a:r>
              <a:rPr lang="en-US" sz="1600" dirty="0" smtClean="0"/>
              <a:t>Rates</a:t>
            </a:r>
          </a:p>
          <a:p>
            <a:pPr marL="342900" indent="-342900">
              <a:buFont typeface="Arial" panose="020B0604020202020204" pitchFamily="34" charset="0"/>
              <a:buChar char="•"/>
            </a:pPr>
            <a:r>
              <a:rPr lang="en-US" sz="1600" dirty="0" smtClean="0"/>
              <a:t>Summary</a:t>
            </a:r>
          </a:p>
          <a:p>
            <a:pPr marL="342900" indent="-342900">
              <a:buFont typeface="Arial" panose="020B0604020202020204" pitchFamily="34" charset="0"/>
              <a:buChar char="•"/>
            </a:pPr>
            <a:r>
              <a:rPr lang="en-US" sz="1600" dirty="0"/>
              <a:t>Finalize Rate Card</a:t>
            </a:r>
            <a:endParaRPr lang="en-US" sz="1600" dirty="0" smtClean="0"/>
          </a:p>
          <a:p>
            <a:pPr marL="342900" indent="-342900">
              <a:buFont typeface="Arial" panose="020B0604020202020204" pitchFamily="34" charset="0"/>
              <a:buChar char="•"/>
            </a:pPr>
            <a:endParaRPr lang="en-US" b="1" dirty="0" smtClean="0"/>
          </a:p>
          <a:p>
            <a:endParaRPr lang="en-US" dirty="0"/>
          </a:p>
          <a:p>
            <a:endParaRPr lang="en-US" dirty="0"/>
          </a:p>
        </p:txBody>
      </p:sp>
    </p:spTree>
    <p:extLst>
      <p:ext uri="{BB962C8B-B14F-4D97-AF65-F5344CB8AC3E}">
        <p14:creationId xmlns:p14="http://schemas.microsoft.com/office/powerpoint/2010/main" val="27582984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11200"/>
            <a:ext cx="11570208" cy="416604"/>
          </a:xfrm>
        </p:spPr>
        <p:txBody>
          <a:bodyPr/>
          <a:lstStyle/>
          <a:p>
            <a:r>
              <a:rPr lang="en-GB" sz="2800" dirty="0"/>
              <a:t>Table of Contents</a:t>
            </a:r>
          </a:p>
        </p:txBody>
      </p:sp>
      <p:sp>
        <p:nvSpPr>
          <p:cNvPr id="3" name="TextBox 2"/>
          <p:cNvSpPr txBox="1"/>
          <p:nvPr/>
        </p:nvSpPr>
        <p:spPr>
          <a:xfrm>
            <a:off x="482600" y="1752600"/>
            <a:ext cx="9410700" cy="3293209"/>
          </a:xfrm>
          <a:prstGeom prst="rect">
            <a:avLst/>
          </a:prstGeom>
          <a:noFill/>
        </p:spPr>
        <p:txBody>
          <a:bodyPr wrap="square" rtlCol="0">
            <a:spAutoFit/>
          </a:bodyPr>
          <a:lstStyle/>
          <a:p>
            <a:r>
              <a:rPr lang="en-US" sz="1400" dirty="0"/>
              <a:t>Rate cards module shall allow the Delivery team to create new Rate Cards for all those customers, which the logged in user has access to and belonging to the logged in user’s Vertical</a:t>
            </a:r>
            <a:r>
              <a:rPr lang="en-US" sz="1600" dirty="0" smtClean="0"/>
              <a:t>.</a:t>
            </a:r>
            <a:r>
              <a:rPr lang="en-US" sz="1600" dirty="0"/>
              <a:t> Below are the several combinations in which the Rate Cards can be created:-</a:t>
            </a:r>
          </a:p>
          <a:p>
            <a:endParaRPr lang="en-US" sz="1600" dirty="0" smtClean="0"/>
          </a:p>
          <a:p>
            <a:pPr marL="285750" indent="-285750">
              <a:buFont typeface="Wingdings" panose="05000000000000000000" pitchFamily="2" charset="2"/>
              <a:buChar char="§"/>
            </a:pPr>
            <a:r>
              <a:rPr lang="en-US" sz="1400" dirty="0" smtClean="0"/>
              <a:t>Automatic</a:t>
            </a:r>
          </a:p>
          <a:p>
            <a:pPr marL="285750" indent="-285750">
              <a:buFont typeface="Wingdings" panose="05000000000000000000" pitchFamily="2" charset="2"/>
              <a:buChar char="§"/>
            </a:pPr>
            <a:r>
              <a:rPr lang="en-US" sz="1400" dirty="0" smtClean="0"/>
              <a:t>Manual</a:t>
            </a:r>
          </a:p>
          <a:p>
            <a:pPr marL="285750" indent="-285750">
              <a:buFont typeface="Wingdings" panose="05000000000000000000" pitchFamily="2" charset="2"/>
              <a:buChar char="§"/>
            </a:pPr>
            <a:r>
              <a:rPr lang="en-US" sz="1400" dirty="0" smtClean="0"/>
              <a:t>Hybrid</a:t>
            </a:r>
          </a:p>
          <a:p>
            <a:pPr marL="285750" indent="-285750">
              <a:buFont typeface="Wingdings" panose="05000000000000000000" pitchFamily="2" charset="2"/>
              <a:buChar char="§"/>
            </a:pPr>
            <a:r>
              <a:rPr lang="en-US" sz="1400" dirty="0" smtClean="0"/>
              <a:t>KPO</a:t>
            </a:r>
          </a:p>
          <a:p>
            <a:endParaRPr lang="en-US" sz="1800" dirty="0"/>
          </a:p>
          <a:p>
            <a:endParaRPr lang="en-US" sz="1800" dirty="0" smtClean="0"/>
          </a:p>
          <a:p>
            <a:pPr marL="285750" indent="-285750">
              <a:buFont typeface="Wingdings" panose="05000000000000000000" pitchFamily="2" charset="2"/>
              <a:buChar char="q"/>
            </a:pPr>
            <a:endParaRPr lang="en-US" sz="1800" dirty="0"/>
          </a:p>
          <a:p>
            <a:pPr marL="285750" indent="-285750">
              <a:buFont typeface="Wingdings" panose="05000000000000000000" pitchFamily="2" charset="2"/>
              <a:buChar char="q"/>
            </a:pPr>
            <a:endParaRPr lang="en-US" sz="1800" dirty="0" smtClean="0"/>
          </a:p>
          <a:p>
            <a:pPr marL="285750" indent="-285750">
              <a:buFont typeface="Wingdings" panose="05000000000000000000" pitchFamily="2" charset="2"/>
              <a:buChar char="q"/>
            </a:pPr>
            <a:endParaRPr lang="en-US" sz="1800" dirty="0"/>
          </a:p>
        </p:txBody>
      </p:sp>
    </p:spTree>
    <p:extLst>
      <p:ext uri="{BB962C8B-B14F-4D97-AF65-F5344CB8AC3E}">
        <p14:creationId xmlns:p14="http://schemas.microsoft.com/office/powerpoint/2010/main" val="25429146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799"/>
            <a:ext cx="11570208" cy="315005"/>
          </a:xfrm>
        </p:spPr>
        <p:txBody>
          <a:bodyPr/>
          <a:lstStyle/>
          <a:p>
            <a:r>
              <a:rPr lang="en-GB" sz="2800" dirty="0"/>
              <a:t>Table of Contents</a:t>
            </a:r>
          </a:p>
        </p:txBody>
      </p:sp>
      <p:pic>
        <p:nvPicPr>
          <p:cNvPr id="3" name="Picture 2"/>
          <p:cNvPicPr>
            <a:picLocks noChangeAspect="1"/>
          </p:cNvPicPr>
          <p:nvPr/>
        </p:nvPicPr>
        <p:blipFill>
          <a:blip r:embed="rId2"/>
          <a:stretch>
            <a:fillRect/>
          </a:stretch>
        </p:blipFill>
        <p:spPr>
          <a:xfrm>
            <a:off x="385664" y="1371600"/>
            <a:ext cx="10180736" cy="4508500"/>
          </a:xfrm>
          <a:prstGeom prst="rect">
            <a:avLst/>
          </a:prstGeom>
        </p:spPr>
      </p:pic>
    </p:spTree>
    <p:extLst>
      <p:ext uri="{BB962C8B-B14F-4D97-AF65-F5344CB8AC3E}">
        <p14:creationId xmlns:p14="http://schemas.microsoft.com/office/powerpoint/2010/main" val="33301329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799"/>
            <a:ext cx="11570208" cy="581705"/>
          </a:xfrm>
        </p:spPr>
        <p:txBody>
          <a:bodyPr/>
          <a:lstStyle/>
          <a:p>
            <a:r>
              <a:rPr lang="en-US" sz="2800" dirty="0" smtClean="0"/>
              <a:t>Delivery Log In</a:t>
            </a:r>
            <a:endParaRPr lang="en-US" sz="2800" dirty="0"/>
          </a:p>
        </p:txBody>
      </p:sp>
      <p:sp>
        <p:nvSpPr>
          <p:cNvPr id="3" name="TextBox 2"/>
          <p:cNvSpPr txBox="1"/>
          <p:nvPr/>
        </p:nvSpPr>
        <p:spPr>
          <a:xfrm>
            <a:off x="495300" y="1625600"/>
            <a:ext cx="11460572" cy="523220"/>
          </a:xfrm>
          <a:prstGeom prst="rect">
            <a:avLst/>
          </a:prstGeom>
          <a:noFill/>
        </p:spPr>
        <p:txBody>
          <a:bodyPr wrap="square" rtlCol="0">
            <a:spAutoFit/>
          </a:bodyPr>
          <a:lstStyle/>
          <a:p>
            <a:r>
              <a:rPr lang="en-US" sz="1400" dirty="0" smtClean="0"/>
              <a:t>Right Price (RP) 2.0 is available on My Atos-Syntel platform. Below is the screen of RP 2.0 menu  under Sitemap highlighted &amp; is common screen in all users login.  </a:t>
            </a:r>
            <a:endParaRPr lang="en-US" sz="1400" dirty="0"/>
          </a:p>
        </p:txBody>
      </p:sp>
      <p:pic>
        <p:nvPicPr>
          <p:cNvPr id="4" name="Picture 3"/>
          <p:cNvPicPr>
            <a:picLocks noChangeAspect="1"/>
          </p:cNvPicPr>
          <p:nvPr/>
        </p:nvPicPr>
        <p:blipFill>
          <a:blip r:embed="rId2"/>
          <a:stretch>
            <a:fillRect/>
          </a:stretch>
        </p:blipFill>
        <p:spPr>
          <a:xfrm>
            <a:off x="609600" y="2374900"/>
            <a:ext cx="7632700" cy="3467100"/>
          </a:xfrm>
          <a:prstGeom prst="rect">
            <a:avLst/>
          </a:prstGeom>
          <a:ln w="9525">
            <a:solidFill>
              <a:schemeClr val="tx1"/>
            </a:solidFill>
          </a:ln>
        </p:spPr>
        <p:style>
          <a:lnRef idx="2">
            <a:schemeClr val="dk1"/>
          </a:lnRef>
          <a:fillRef idx="1">
            <a:schemeClr val="lt1"/>
          </a:fillRef>
          <a:effectRef idx="0">
            <a:schemeClr val="dk1"/>
          </a:effectRef>
          <a:fontRef idx="minor">
            <a:schemeClr val="dk1"/>
          </a:fontRef>
        </p:style>
      </p:pic>
      <p:sp>
        <p:nvSpPr>
          <p:cNvPr id="5" name="Rectangle 4"/>
          <p:cNvSpPr/>
          <p:nvPr/>
        </p:nvSpPr>
        <p:spPr>
          <a:xfrm>
            <a:off x="5511800" y="4851400"/>
            <a:ext cx="1104900"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6083300" y="2387600"/>
            <a:ext cx="2159000" cy="2463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1534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49300"/>
            <a:ext cx="11570208" cy="2032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Delivery Log In</a:t>
            </a:r>
          </a:p>
        </p:txBody>
      </p:sp>
      <p:sp>
        <p:nvSpPr>
          <p:cNvPr id="2" name="TextBox 1"/>
          <p:cNvSpPr txBox="1"/>
          <p:nvPr/>
        </p:nvSpPr>
        <p:spPr>
          <a:xfrm>
            <a:off x="385664" y="1409700"/>
            <a:ext cx="10980835" cy="1323439"/>
          </a:xfrm>
          <a:prstGeom prst="rect">
            <a:avLst/>
          </a:prstGeom>
          <a:noFill/>
        </p:spPr>
        <p:txBody>
          <a:bodyPr wrap="square" rtlCol="0">
            <a:spAutoFit/>
          </a:bodyPr>
          <a:lstStyle/>
          <a:p>
            <a:r>
              <a:rPr lang="en-US" sz="1600" dirty="0"/>
              <a:t>A link in myAtosSyntel is provided to access Right Price 2.0 portal. This link in turn will redirect the user to Login screen of the portal. User will have to enter valid Atos Syntel credentials to access the Portal. If user logins to Right Price portal by accessing the link in myAtosSyntel, irrespective of the login credentials entered in myAtosSyntel, user will still need to enter the credentials to access Right Price 2.0 portal.</a:t>
            </a:r>
          </a:p>
        </p:txBody>
      </p:sp>
      <p:pic>
        <p:nvPicPr>
          <p:cNvPr id="5" name="Picture 4"/>
          <p:cNvPicPr>
            <a:picLocks noChangeAspect="1"/>
          </p:cNvPicPr>
          <p:nvPr/>
        </p:nvPicPr>
        <p:blipFill>
          <a:blip r:embed="rId2"/>
          <a:stretch>
            <a:fillRect/>
          </a:stretch>
        </p:blipFill>
        <p:spPr>
          <a:xfrm>
            <a:off x="499964" y="2959099"/>
            <a:ext cx="5996658" cy="2767231"/>
          </a:xfrm>
          <a:prstGeom prst="rect">
            <a:avLst/>
          </a:prstGeom>
        </p:spPr>
      </p:pic>
    </p:spTree>
    <p:extLst>
      <p:ext uri="{BB962C8B-B14F-4D97-AF65-F5344CB8AC3E}">
        <p14:creationId xmlns:p14="http://schemas.microsoft.com/office/powerpoint/2010/main" val="3447193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0099"/>
            <a:ext cx="11570208" cy="607105"/>
          </a:xfrm>
        </p:spPr>
        <p:txBody>
          <a:bodyPr/>
          <a:lstStyle/>
          <a:p>
            <a:r>
              <a:rPr lang="en-US" sz="2800" dirty="0" smtClean="0"/>
              <a:t>Creation of Rate card– Manual RC</a:t>
            </a:r>
            <a:endParaRPr lang="en-US" sz="2800" dirty="0"/>
          </a:p>
        </p:txBody>
      </p:sp>
      <p:sp>
        <p:nvSpPr>
          <p:cNvPr id="3" name="TextBox 2"/>
          <p:cNvSpPr txBox="1"/>
          <p:nvPr/>
        </p:nvSpPr>
        <p:spPr>
          <a:xfrm>
            <a:off x="427296" y="1498600"/>
            <a:ext cx="11304639" cy="369332"/>
          </a:xfrm>
          <a:prstGeom prst="rect">
            <a:avLst/>
          </a:prstGeom>
          <a:noFill/>
        </p:spPr>
        <p:txBody>
          <a:bodyPr wrap="square" rtlCol="0">
            <a:spAutoFit/>
          </a:bodyPr>
          <a:lstStyle/>
          <a:p>
            <a:r>
              <a:rPr lang="en-US" sz="1800" dirty="0"/>
              <a:t>Following </a:t>
            </a:r>
            <a:r>
              <a:rPr lang="en-US" sz="1800" dirty="0" smtClean="0"/>
              <a:t>screen </a:t>
            </a:r>
            <a:r>
              <a:rPr lang="en-US" sz="1800" dirty="0"/>
              <a:t>appears on User Screen after login </a:t>
            </a:r>
          </a:p>
        </p:txBody>
      </p:sp>
      <p:pic>
        <p:nvPicPr>
          <p:cNvPr id="4" name="Picture 3"/>
          <p:cNvPicPr>
            <a:picLocks noChangeAspect="1"/>
          </p:cNvPicPr>
          <p:nvPr/>
        </p:nvPicPr>
        <p:blipFill>
          <a:blip r:embed="rId2"/>
          <a:stretch>
            <a:fillRect/>
          </a:stretch>
        </p:blipFill>
        <p:spPr>
          <a:xfrm>
            <a:off x="554297" y="2108201"/>
            <a:ext cx="6760532" cy="2952750"/>
          </a:xfrm>
          <a:prstGeom prst="rect">
            <a:avLst/>
          </a:prstGeom>
          <a:ln w="9525">
            <a:solidFill>
              <a:schemeClr val="tx1"/>
            </a:solidFill>
          </a:ln>
        </p:spPr>
      </p:pic>
      <p:sp>
        <p:nvSpPr>
          <p:cNvPr id="6" name="Oval 5"/>
          <p:cNvSpPr/>
          <p:nvPr/>
        </p:nvSpPr>
        <p:spPr>
          <a:xfrm>
            <a:off x="3477363" y="3584576"/>
            <a:ext cx="914400" cy="12573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12420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00099"/>
            <a:ext cx="11570208" cy="6452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Screen</a:t>
            </a:r>
            <a:endParaRPr lang="en-US" sz="2800" dirty="0"/>
          </a:p>
        </p:txBody>
      </p:sp>
      <p:pic>
        <p:nvPicPr>
          <p:cNvPr id="2" name="Picture 1"/>
          <p:cNvPicPr>
            <a:picLocks noChangeAspect="1"/>
          </p:cNvPicPr>
          <p:nvPr/>
        </p:nvPicPr>
        <p:blipFill>
          <a:blip r:embed="rId2"/>
          <a:stretch>
            <a:fillRect/>
          </a:stretch>
        </p:blipFill>
        <p:spPr>
          <a:xfrm>
            <a:off x="385664" y="2349500"/>
            <a:ext cx="10379418" cy="3086100"/>
          </a:xfrm>
          <a:prstGeom prst="rect">
            <a:avLst/>
          </a:prstGeom>
          <a:ln w="9525">
            <a:solidFill>
              <a:schemeClr val="tx1"/>
            </a:solidFill>
          </a:ln>
        </p:spPr>
      </p:pic>
      <p:sp>
        <p:nvSpPr>
          <p:cNvPr id="6" name="Text Placeholder 5"/>
          <p:cNvSpPr>
            <a:spLocks noGrp="1"/>
          </p:cNvSpPr>
          <p:nvPr>
            <p:ph type="body" sz="quarter" idx="11"/>
          </p:nvPr>
        </p:nvSpPr>
        <p:spPr>
          <a:xfrm>
            <a:off x="385665" y="1454400"/>
            <a:ext cx="11570208" cy="806200"/>
          </a:xfrm>
        </p:spPr>
        <p:txBody>
          <a:bodyPr/>
          <a:lstStyle/>
          <a:p>
            <a:pPr>
              <a:buFont typeface="Wingdings" panose="05000000000000000000" pitchFamily="2" charset="2"/>
              <a:buChar char="q"/>
            </a:pPr>
            <a:r>
              <a:rPr lang="en-US" sz="1400" b="1" dirty="0" smtClean="0"/>
              <a:t>Step 1</a:t>
            </a:r>
          </a:p>
          <a:p>
            <a:r>
              <a:rPr lang="en-US" sz="1400" b="1" dirty="0" smtClean="0"/>
              <a:t>Click on Rate Card.</a:t>
            </a:r>
          </a:p>
          <a:p>
            <a:r>
              <a:rPr lang="en-US" sz="1400" b="1" dirty="0" smtClean="0"/>
              <a:t>Create New RC</a:t>
            </a:r>
            <a:r>
              <a:rPr lang="en-US" sz="1600" b="1" dirty="0" smtClean="0"/>
              <a:t>.</a:t>
            </a:r>
          </a:p>
          <a:p>
            <a:pPr marL="0" indent="0">
              <a:buNone/>
            </a:pPr>
            <a:endParaRPr lang="en-US" dirty="0"/>
          </a:p>
        </p:txBody>
      </p:sp>
      <p:sp>
        <p:nvSpPr>
          <p:cNvPr id="8" name="Rounded Rectangle 7"/>
          <p:cNvSpPr/>
          <p:nvPr/>
        </p:nvSpPr>
        <p:spPr>
          <a:xfrm>
            <a:off x="4394200" y="4000500"/>
            <a:ext cx="3543300" cy="1435100"/>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70936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12799"/>
            <a:ext cx="11570208" cy="6198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a:t>
            </a:r>
            <a:r>
              <a:rPr lang="en-US" sz="2800" dirty="0"/>
              <a:t>card </a:t>
            </a:r>
            <a:r>
              <a:rPr lang="en-US" sz="2800" dirty="0" smtClean="0"/>
              <a:t>Creation Page</a:t>
            </a:r>
            <a:endParaRPr lang="en-US" sz="2800" dirty="0"/>
          </a:p>
        </p:txBody>
      </p:sp>
      <p:sp>
        <p:nvSpPr>
          <p:cNvPr id="13" name="Text Placeholder 12"/>
          <p:cNvSpPr>
            <a:spLocks noGrp="1"/>
          </p:cNvSpPr>
          <p:nvPr>
            <p:ph type="body" sz="quarter" idx="11"/>
          </p:nvPr>
        </p:nvSpPr>
        <p:spPr>
          <a:xfrm>
            <a:off x="385665" y="1308100"/>
            <a:ext cx="11570208" cy="4864100"/>
          </a:xfrm>
        </p:spPr>
        <p:txBody>
          <a:bodyPr/>
          <a:lstStyle/>
          <a:p>
            <a:pPr>
              <a:buFont typeface="Wingdings" panose="05000000000000000000" pitchFamily="2" charset="2"/>
              <a:buChar char="q"/>
            </a:pPr>
            <a:r>
              <a:rPr lang="en-US" sz="1400" b="1" dirty="0" smtClean="0"/>
              <a:t>Step 2</a:t>
            </a:r>
          </a:p>
          <a:p>
            <a:r>
              <a:rPr lang="en-US" sz="1400" dirty="0" smtClean="0"/>
              <a:t>Fill the details below.</a:t>
            </a:r>
          </a:p>
          <a:p>
            <a:r>
              <a:rPr lang="en-US" sz="1400" dirty="0" smtClean="0"/>
              <a:t>Select </a:t>
            </a:r>
            <a:r>
              <a:rPr lang="en-US" sz="1400" dirty="0" smtClean="0"/>
              <a:t>IT/KPO in Industry tab as applicable</a:t>
            </a:r>
            <a:endParaRPr lang="en-US" dirty="0" smtClean="0"/>
          </a:p>
          <a:p>
            <a:pPr marL="0" indent="0">
              <a:buNone/>
            </a:pPr>
            <a:endParaRPr lang="en-US" dirty="0"/>
          </a:p>
        </p:txBody>
      </p:sp>
      <p:pic>
        <p:nvPicPr>
          <p:cNvPr id="14" name="Picture 13"/>
          <p:cNvPicPr>
            <a:picLocks noChangeAspect="1"/>
          </p:cNvPicPr>
          <p:nvPr/>
        </p:nvPicPr>
        <p:blipFill>
          <a:blip r:embed="rId2"/>
          <a:stretch>
            <a:fillRect/>
          </a:stretch>
        </p:blipFill>
        <p:spPr>
          <a:xfrm>
            <a:off x="495300" y="2322068"/>
            <a:ext cx="9715500" cy="3354832"/>
          </a:xfrm>
          <a:prstGeom prst="rect">
            <a:avLst/>
          </a:prstGeom>
          <a:ln w="9525">
            <a:solidFill>
              <a:schemeClr val="tx1"/>
            </a:solidFill>
          </a:ln>
        </p:spPr>
      </p:pic>
      <p:sp>
        <p:nvSpPr>
          <p:cNvPr id="16" name="Rounded Rectangle 15"/>
          <p:cNvSpPr/>
          <p:nvPr/>
        </p:nvSpPr>
        <p:spPr>
          <a:xfrm>
            <a:off x="2552700" y="4191000"/>
            <a:ext cx="2628900" cy="22860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4028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36600"/>
            <a:ext cx="11570208" cy="5080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Delivery Team details</a:t>
            </a:r>
            <a:endParaRPr lang="en-US" sz="2800" dirty="0"/>
          </a:p>
        </p:txBody>
      </p:sp>
      <p:pic>
        <p:nvPicPr>
          <p:cNvPr id="2" name="Picture 1"/>
          <p:cNvPicPr>
            <a:picLocks noChangeAspect="1"/>
          </p:cNvPicPr>
          <p:nvPr/>
        </p:nvPicPr>
        <p:blipFill>
          <a:blip r:embed="rId2"/>
          <a:stretch>
            <a:fillRect/>
          </a:stretch>
        </p:blipFill>
        <p:spPr>
          <a:xfrm>
            <a:off x="833866" y="2613592"/>
            <a:ext cx="7459233" cy="2225108"/>
          </a:xfrm>
          <a:prstGeom prst="rect">
            <a:avLst/>
          </a:prstGeom>
          <a:ln w="9525">
            <a:solidFill>
              <a:schemeClr val="tx1"/>
            </a:solidFill>
          </a:ln>
        </p:spPr>
      </p:pic>
      <p:sp>
        <p:nvSpPr>
          <p:cNvPr id="8" name="Text Placeholder 7"/>
          <p:cNvSpPr>
            <a:spLocks noGrp="1"/>
          </p:cNvSpPr>
          <p:nvPr>
            <p:ph type="body" sz="quarter" idx="11"/>
          </p:nvPr>
        </p:nvSpPr>
        <p:spPr/>
        <p:txBody>
          <a:bodyPr/>
          <a:lstStyle/>
          <a:p>
            <a:pPr>
              <a:buFont typeface="Wingdings" panose="05000000000000000000" pitchFamily="2" charset="2"/>
              <a:buChar char="q"/>
            </a:pPr>
            <a:r>
              <a:rPr lang="en-US" sz="1400" b="1" dirty="0" smtClean="0"/>
              <a:t>Step 3</a:t>
            </a:r>
          </a:p>
          <a:p>
            <a:r>
              <a:rPr lang="en-US" sz="1400" dirty="0" smtClean="0"/>
              <a:t>In Team Details tab. </a:t>
            </a:r>
          </a:p>
          <a:p>
            <a:r>
              <a:rPr lang="en-US" sz="1400" dirty="0" smtClean="0"/>
              <a:t>Update the Delivery Team details</a:t>
            </a:r>
            <a:r>
              <a:rPr lang="en-US" dirty="0" smtClean="0"/>
              <a:t>.</a:t>
            </a:r>
            <a:endParaRPr lang="en-US" dirty="0"/>
          </a:p>
        </p:txBody>
      </p:sp>
      <p:cxnSp>
        <p:nvCxnSpPr>
          <p:cNvPr id="5" name="Straight Arrow Connector 4"/>
          <p:cNvCxnSpPr/>
          <p:nvPr/>
        </p:nvCxnSpPr>
        <p:spPr>
          <a:xfrm flipH="1">
            <a:off x="3009899" y="2613592"/>
            <a:ext cx="1553583" cy="67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2" idx="0"/>
          </p:cNvCxnSpPr>
          <p:nvPr/>
        </p:nvCxnSpPr>
        <p:spPr>
          <a:xfrm>
            <a:off x="4563483" y="2613592"/>
            <a:ext cx="1888117" cy="663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710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12800"/>
            <a:ext cx="11570208" cy="3937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Utilization Page</a:t>
            </a:r>
            <a:endParaRPr lang="en-US" sz="2800" dirty="0"/>
          </a:p>
        </p:txBody>
      </p:sp>
      <p:pic>
        <p:nvPicPr>
          <p:cNvPr id="2" name="Picture 1"/>
          <p:cNvPicPr>
            <a:picLocks noChangeAspect="1"/>
          </p:cNvPicPr>
          <p:nvPr/>
        </p:nvPicPr>
        <p:blipFill>
          <a:blip r:embed="rId2"/>
          <a:stretch>
            <a:fillRect/>
          </a:stretch>
        </p:blipFill>
        <p:spPr>
          <a:xfrm>
            <a:off x="825500" y="2526720"/>
            <a:ext cx="8820150" cy="3400616"/>
          </a:xfrm>
          <a:prstGeom prst="rect">
            <a:avLst/>
          </a:prstGeom>
          <a:ln w="9525">
            <a:solidFill>
              <a:schemeClr val="tx1"/>
            </a:solidFill>
          </a:ln>
        </p:spPr>
      </p:pic>
      <p:sp>
        <p:nvSpPr>
          <p:cNvPr id="6" name="Text Placeholder 5"/>
          <p:cNvSpPr>
            <a:spLocks noGrp="1"/>
          </p:cNvSpPr>
          <p:nvPr>
            <p:ph type="body" sz="quarter" idx="11"/>
          </p:nvPr>
        </p:nvSpPr>
        <p:spPr/>
        <p:txBody>
          <a:bodyPr/>
          <a:lstStyle/>
          <a:p>
            <a:pPr>
              <a:buFont typeface="Wingdings" panose="05000000000000000000" pitchFamily="2" charset="2"/>
              <a:buChar char="q"/>
            </a:pPr>
            <a:r>
              <a:rPr lang="en-US" sz="1400" b="1" dirty="0" smtClean="0"/>
              <a:t>Step 4</a:t>
            </a:r>
          </a:p>
          <a:p>
            <a:r>
              <a:rPr lang="en-US" sz="1400" dirty="0" smtClean="0"/>
              <a:t>Select Base Country</a:t>
            </a:r>
            <a:r>
              <a:rPr lang="en-US" sz="1400" dirty="0" smtClean="0"/>
              <a:t>. Manual Rate card can be prepared for Multiple countries</a:t>
            </a:r>
            <a:endParaRPr lang="en-US" sz="1400" dirty="0" smtClean="0"/>
          </a:p>
          <a:p>
            <a:r>
              <a:rPr lang="en-US" sz="1400" dirty="0" smtClean="0"/>
              <a:t>Update Utilization percentage.</a:t>
            </a:r>
          </a:p>
          <a:p>
            <a:r>
              <a:rPr lang="en-US" sz="1400" dirty="0" smtClean="0"/>
              <a:t>Select YES for Manual RC.</a:t>
            </a:r>
            <a:endParaRPr lang="en-US" sz="1400" dirty="0"/>
          </a:p>
        </p:txBody>
      </p:sp>
      <p:sp>
        <p:nvSpPr>
          <p:cNvPr id="10" name="Rounded Rectangle 9"/>
          <p:cNvSpPr/>
          <p:nvPr/>
        </p:nvSpPr>
        <p:spPr>
          <a:xfrm>
            <a:off x="1803400" y="3564747"/>
            <a:ext cx="371768" cy="2371414"/>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5637368" y="3547098"/>
            <a:ext cx="533400" cy="2380238"/>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7425609" y="3564747"/>
            <a:ext cx="482600" cy="2380238"/>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6055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91975"/>
            <a:ext cx="11570208" cy="640629"/>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Rate card </a:t>
            </a:r>
            <a:r>
              <a:rPr lang="en-US" sz="2800" dirty="0" smtClean="0"/>
              <a:t>Location Detail</a:t>
            </a:r>
            <a:endParaRPr lang="en-US" sz="2800" dirty="0"/>
          </a:p>
        </p:txBody>
      </p:sp>
      <p:pic>
        <p:nvPicPr>
          <p:cNvPr id="5" name="Picture 4"/>
          <p:cNvPicPr>
            <a:picLocks noChangeAspect="1"/>
          </p:cNvPicPr>
          <p:nvPr/>
        </p:nvPicPr>
        <p:blipFill>
          <a:blip r:embed="rId2"/>
          <a:stretch>
            <a:fillRect/>
          </a:stretch>
        </p:blipFill>
        <p:spPr>
          <a:xfrm>
            <a:off x="385664" y="2374900"/>
            <a:ext cx="8877300" cy="3614925"/>
          </a:xfrm>
          <a:prstGeom prst="rect">
            <a:avLst/>
          </a:prstGeom>
          <a:ln w="9525">
            <a:solidFill>
              <a:schemeClr val="tx1"/>
            </a:solidFill>
          </a:ln>
        </p:spPr>
      </p:pic>
      <p:sp>
        <p:nvSpPr>
          <p:cNvPr id="8" name="Text Placeholder 7"/>
          <p:cNvSpPr>
            <a:spLocks noGrp="1"/>
          </p:cNvSpPr>
          <p:nvPr>
            <p:ph type="body" sz="quarter" idx="11"/>
          </p:nvPr>
        </p:nvSpPr>
        <p:spPr/>
        <p:txBody>
          <a:bodyPr/>
          <a:lstStyle/>
          <a:p>
            <a:pPr>
              <a:buFont typeface="Wingdings" panose="05000000000000000000" pitchFamily="2" charset="2"/>
              <a:buChar char="q"/>
            </a:pPr>
            <a:r>
              <a:rPr lang="en-US" sz="1400" b="1" dirty="0" smtClean="0"/>
              <a:t>Step 5</a:t>
            </a:r>
          </a:p>
          <a:p>
            <a:r>
              <a:rPr lang="en-US" sz="1400" dirty="0" smtClean="0"/>
              <a:t>Select Country &amp; City.</a:t>
            </a:r>
          </a:p>
          <a:p>
            <a:r>
              <a:rPr lang="en-US" sz="1400" dirty="0" smtClean="0"/>
              <a:t>Select Add.</a:t>
            </a:r>
          </a:p>
        </p:txBody>
      </p:sp>
      <p:sp>
        <p:nvSpPr>
          <p:cNvPr id="11" name="Oval 10"/>
          <p:cNvSpPr/>
          <p:nvPr/>
        </p:nvSpPr>
        <p:spPr>
          <a:xfrm>
            <a:off x="8242300" y="2946400"/>
            <a:ext cx="1020664" cy="889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651000" y="2946400"/>
            <a:ext cx="2425700" cy="889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737100" y="2946400"/>
            <a:ext cx="3048000" cy="8001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13612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500"/>
            <a:ext cx="11570208" cy="302304"/>
          </a:xfrm>
        </p:spPr>
        <p:txBody>
          <a:bodyPr/>
          <a:lstStyle/>
          <a:p>
            <a:r>
              <a:rPr lang="en-US" sz="2800" dirty="0"/>
              <a:t>Rate card </a:t>
            </a:r>
            <a:r>
              <a:rPr lang="en-US" sz="2800" dirty="0" smtClean="0"/>
              <a:t>Location Detail submission</a:t>
            </a:r>
            <a:endParaRPr lang="en-US" sz="2800" dirty="0"/>
          </a:p>
        </p:txBody>
      </p:sp>
      <p:sp>
        <p:nvSpPr>
          <p:cNvPr id="5" name="Text Placeholder 4"/>
          <p:cNvSpPr>
            <a:spLocks noGrp="1"/>
          </p:cNvSpPr>
          <p:nvPr>
            <p:ph type="body" sz="quarter" idx="11"/>
          </p:nvPr>
        </p:nvSpPr>
        <p:spPr/>
        <p:txBody>
          <a:bodyPr/>
          <a:lstStyle/>
          <a:p>
            <a:pPr>
              <a:buFont typeface="Wingdings" panose="05000000000000000000" pitchFamily="2" charset="2"/>
              <a:buChar char="q"/>
            </a:pPr>
            <a:r>
              <a:rPr lang="en-US" sz="1400" b="1" dirty="0" smtClean="0"/>
              <a:t>Step 6</a:t>
            </a:r>
          </a:p>
          <a:p>
            <a:r>
              <a:rPr lang="en-US" sz="1400" dirty="0" smtClean="0"/>
              <a:t>After updating Onsite details.</a:t>
            </a:r>
          </a:p>
          <a:p>
            <a:r>
              <a:rPr lang="en-US" sz="1400" dirty="0" smtClean="0"/>
              <a:t>Click Save.</a:t>
            </a:r>
          </a:p>
          <a:p>
            <a:r>
              <a:rPr lang="en-US" sz="1400" dirty="0" smtClean="0"/>
              <a:t>Following Screen appears.</a:t>
            </a:r>
            <a:endParaRPr lang="en-US" sz="1400" dirty="0"/>
          </a:p>
        </p:txBody>
      </p:sp>
      <p:pic>
        <p:nvPicPr>
          <p:cNvPr id="3" name="Picture 2"/>
          <p:cNvPicPr>
            <a:picLocks noChangeAspect="1"/>
          </p:cNvPicPr>
          <p:nvPr/>
        </p:nvPicPr>
        <p:blipFill>
          <a:blip r:embed="rId2"/>
          <a:stretch>
            <a:fillRect/>
          </a:stretch>
        </p:blipFill>
        <p:spPr>
          <a:xfrm>
            <a:off x="665064" y="2629096"/>
            <a:ext cx="7832305" cy="3184482"/>
          </a:xfrm>
          <a:prstGeom prst="rect">
            <a:avLst/>
          </a:prstGeom>
          <a:ln w="12700">
            <a:solidFill>
              <a:schemeClr val="tx1"/>
            </a:solidFill>
          </a:ln>
        </p:spPr>
      </p:pic>
      <p:sp>
        <p:nvSpPr>
          <p:cNvPr id="6" name="Oval 5"/>
          <p:cNvSpPr/>
          <p:nvPr/>
        </p:nvSpPr>
        <p:spPr>
          <a:xfrm>
            <a:off x="1816100" y="3098800"/>
            <a:ext cx="2362200" cy="4191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25530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0099"/>
            <a:ext cx="11570208" cy="327705"/>
          </a:xfrm>
        </p:spPr>
        <p:txBody>
          <a:bodyPr/>
          <a:lstStyle/>
          <a:p>
            <a:r>
              <a:rPr lang="en-US" sz="2800" dirty="0" smtClean="0"/>
              <a:t>Upload Template for Checklist File. </a:t>
            </a:r>
            <a:endParaRPr lang="en-US" sz="2800" dirty="0"/>
          </a:p>
        </p:txBody>
      </p:sp>
      <p:sp>
        <p:nvSpPr>
          <p:cNvPr id="5" name="Text Placeholder 4"/>
          <p:cNvSpPr>
            <a:spLocks noGrp="1"/>
          </p:cNvSpPr>
          <p:nvPr>
            <p:ph type="body" sz="quarter" idx="11"/>
          </p:nvPr>
        </p:nvSpPr>
        <p:spPr>
          <a:xfrm>
            <a:off x="385665" y="1308100"/>
            <a:ext cx="11570208" cy="4681724"/>
          </a:xfrm>
        </p:spPr>
        <p:txBody>
          <a:bodyPr/>
          <a:lstStyle/>
          <a:p>
            <a:r>
              <a:rPr lang="en-US" sz="1400" b="1" dirty="0" smtClean="0"/>
              <a:t>Step 7</a:t>
            </a:r>
          </a:p>
          <a:p>
            <a:r>
              <a:rPr lang="en-US" sz="1400" dirty="0" smtClean="0"/>
              <a:t>Browse and upload Rate card checklist file.</a:t>
            </a:r>
          </a:p>
          <a:p>
            <a:r>
              <a:rPr lang="en-US" sz="1400" dirty="0" smtClean="0"/>
              <a:t>Click Save.</a:t>
            </a:r>
          </a:p>
          <a:p>
            <a:r>
              <a:rPr lang="en-US" sz="1400" dirty="0" smtClean="0"/>
              <a:t>Press Submit to GFT.</a:t>
            </a:r>
            <a:endParaRPr lang="en-US" sz="1400" dirty="0"/>
          </a:p>
        </p:txBody>
      </p:sp>
      <p:pic>
        <p:nvPicPr>
          <p:cNvPr id="3" name="Picture 2"/>
          <p:cNvPicPr>
            <a:picLocks noChangeAspect="1"/>
          </p:cNvPicPr>
          <p:nvPr/>
        </p:nvPicPr>
        <p:blipFill>
          <a:blip r:embed="rId2"/>
          <a:stretch>
            <a:fillRect/>
          </a:stretch>
        </p:blipFill>
        <p:spPr>
          <a:xfrm>
            <a:off x="271364" y="2451101"/>
            <a:ext cx="11064983" cy="3162300"/>
          </a:xfrm>
          <a:prstGeom prst="rect">
            <a:avLst/>
          </a:prstGeom>
          <a:ln w="9525">
            <a:solidFill>
              <a:schemeClr val="tx1"/>
            </a:solidFill>
          </a:ln>
        </p:spPr>
      </p:pic>
      <p:sp>
        <p:nvSpPr>
          <p:cNvPr id="6" name="Rounded Rectangle 5"/>
          <p:cNvSpPr/>
          <p:nvPr/>
        </p:nvSpPr>
        <p:spPr>
          <a:xfrm>
            <a:off x="2489200" y="3162300"/>
            <a:ext cx="5473700" cy="73660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58800" y="4343400"/>
            <a:ext cx="3111500" cy="4191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85664" y="4216400"/>
            <a:ext cx="2763936" cy="5461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1274717" y="5080000"/>
            <a:ext cx="9058275" cy="523875"/>
          </a:xfrm>
          <a:prstGeom prst="rect">
            <a:avLst/>
          </a:prstGeom>
        </p:spPr>
      </p:pic>
    </p:spTree>
    <p:extLst>
      <p:ext uri="{BB962C8B-B14F-4D97-AF65-F5344CB8AC3E}">
        <p14:creationId xmlns:p14="http://schemas.microsoft.com/office/powerpoint/2010/main" val="9969820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74700"/>
            <a:ext cx="11570208" cy="355600"/>
          </a:xfrm>
        </p:spPr>
        <p:txBody>
          <a:bodyPr/>
          <a:lstStyle/>
          <a:p>
            <a:r>
              <a:rPr lang="en-US" sz="2800" dirty="0" smtClean="0"/>
              <a:t>Rate card Creation &amp; Role Selection</a:t>
            </a:r>
            <a:endParaRPr lang="en-US" sz="2800" dirty="0"/>
          </a:p>
        </p:txBody>
      </p:sp>
      <p:sp>
        <p:nvSpPr>
          <p:cNvPr id="5" name="Text Placeholder 4"/>
          <p:cNvSpPr>
            <a:spLocks noGrp="1"/>
          </p:cNvSpPr>
          <p:nvPr>
            <p:ph type="body" sz="quarter" idx="11"/>
          </p:nvPr>
        </p:nvSpPr>
        <p:spPr>
          <a:xfrm>
            <a:off x="385665" y="1333500"/>
            <a:ext cx="11570208" cy="4914898"/>
          </a:xfrm>
        </p:spPr>
        <p:txBody>
          <a:bodyPr/>
          <a:lstStyle/>
          <a:p>
            <a:pPr>
              <a:buFont typeface="Wingdings" panose="05000000000000000000" pitchFamily="2" charset="2"/>
              <a:buChar char="q"/>
            </a:pPr>
            <a:r>
              <a:rPr lang="en-US" sz="1200" b="1" dirty="0" smtClean="0"/>
              <a:t>Step 8</a:t>
            </a:r>
          </a:p>
          <a:p>
            <a:r>
              <a:rPr lang="en-US" sz="1200" dirty="0" smtClean="0"/>
              <a:t>After submission of Rate card checklist rate card will appear in GFT Queue.</a:t>
            </a:r>
          </a:p>
          <a:p>
            <a:r>
              <a:rPr lang="en-US" sz="1200" dirty="0" smtClean="0"/>
              <a:t>Under Roles from </a:t>
            </a:r>
            <a:r>
              <a:rPr lang="en-US" sz="1200" dirty="0" smtClean="0"/>
              <a:t>Role Master </a:t>
            </a:r>
            <a:r>
              <a:rPr lang="en-US" sz="1200" dirty="0" smtClean="0"/>
              <a:t>type </a:t>
            </a:r>
            <a:r>
              <a:rPr lang="en-US" sz="1200" dirty="0" smtClean="0"/>
              <a:t>“Manual” &amp; click “Search”.</a:t>
            </a:r>
          </a:p>
          <a:p>
            <a:r>
              <a:rPr lang="en-US" sz="1200" dirty="0" smtClean="0"/>
              <a:t>Select “Role for Manual Rate Card”.</a:t>
            </a:r>
          </a:p>
          <a:p>
            <a:r>
              <a:rPr lang="en-US" sz="1200" dirty="0" smtClean="0"/>
              <a:t>After selection Click “Add”.</a:t>
            </a:r>
          </a:p>
        </p:txBody>
      </p:sp>
      <p:pic>
        <p:nvPicPr>
          <p:cNvPr id="6" name="Picture 5"/>
          <p:cNvPicPr>
            <a:picLocks noChangeAspect="1"/>
          </p:cNvPicPr>
          <p:nvPr/>
        </p:nvPicPr>
        <p:blipFill>
          <a:blip r:embed="rId2"/>
          <a:stretch>
            <a:fillRect/>
          </a:stretch>
        </p:blipFill>
        <p:spPr>
          <a:xfrm>
            <a:off x="385664" y="2654299"/>
            <a:ext cx="10206135" cy="3454401"/>
          </a:xfrm>
          <a:prstGeom prst="rect">
            <a:avLst/>
          </a:prstGeom>
          <a:ln w="9525">
            <a:solidFill>
              <a:schemeClr val="tx1"/>
            </a:solidFill>
          </a:ln>
        </p:spPr>
      </p:pic>
      <p:sp>
        <p:nvSpPr>
          <p:cNvPr id="7" name="Oval 6"/>
          <p:cNvSpPr/>
          <p:nvPr/>
        </p:nvSpPr>
        <p:spPr>
          <a:xfrm>
            <a:off x="8026400" y="3378198"/>
            <a:ext cx="914400" cy="40005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743200" y="3378198"/>
            <a:ext cx="1422400" cy="40004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85664" y="5156200"/>
            <a:ext cx="8555136" cy="2159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993431" y="5689600"/>
            <a:ext cx="990600" cy="3175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73858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85664" y="825500"/>
            <a:ext cx="11570208" cy="302304"/>
          </a:xfrm>
        </p:spPr>
        <p:txBody>
          <a:bodyPr/>
          <a:lstStyle/>
          <a:p>
            <a:r>
              <a:rPr lang="en-US" sz="2800" dirty="0" smtClean="0"/>
              <a:t>Manual RC file upload</a:t>
            </a:r>
            <a:endParaRPr lang="en-US" sz="2800" dirty="0"/>
          </a:p>
        </p:txBody>
      </p:sp>
      <p:sp>
        <p:nvSpPr>
          <p:cNvPr id="4" name="Text Placeholder 3"/>
          <p:cNvSpPr>
            <a:spLocks noGrp="1"/>
          </p:cNvSpPr>
          <p:nvPr>
            <p:ph type="body" sz="quarter" idx="11"/>
          </p:nvPr>
        </p:nvSpPr>
        <p:spPr>
          <a:noFill/>
        </p:spPr>
        <p:txBody>
          <a:bodyPr/>
          <a:lstStyle/>
          <a:p>
            <a:pPr>
              <a:buFont typeface="Wingdings" panose="05000000000000000000" pitchFamily="2" charset="2"/>
              <a:buChar char="q"/>
            </a:pPr>
            <a:r>
              <a:rPr lang="en-US" sz="1200" b="1" dirty="0" smtClean="0"/>
              <a:t>Step 9</a:t>
            </a:r>
          </a:p>
          <a:p>
            <a:r>
              <a:rPr lang="en-US" sz="1200" dirty="0" smtClean="0"/>
              <a:t>Select Country &amp; City as applicable. If rate card is for </a:t>
            </a:r>
            <a:r>
              <a:rPr lang="en-US" sz="1200" dirty="0"/>
              <a:t>M</a:t>
            </a:r>
            <a:r>
              <a:rPr lang="en-US" sz="1200" dirty="0" smtClean="0"/>
              <a:t>ulti Country </a:t>
            </a:r>
            <a:r>
              <a:rPr lang="en-US" sz="1200" dirty="0" smtClean="0"/>
              <a:t>User have to select all </a:t>
            </a:r>
            <a:r>
              <a:rPr lang="en-US" sz="1200" dirty="0"/>
              <a:t>C</a:t>
            </a:r>
            <a:r>
              <a:rPr lang="en-US" sz="1200" dirty="0" smtClean="0"/>
              <a:t>ountries &amp; City</a:t>
            </a:r>
            <a:endParaRPr lang="en-US" sz="1200" dirty="0" smtClean="0"/>
          </a:p>
          <a:p>
            <a:r>
              <a:rPr lang="en-US" sz="1200" dirty="0" smtClean="0"/>
              <a:t>Fill Onsite &amp; Offshore Blended Rate &amp; Cost as applicable for the respective countries &amp; Click on Save</a:t>
            </a:r>
          </a:p>
          <a:p>
            <a:r>
              <a:rPr lang="en-US" sz="1200" dirty="0" smtClean="0"/>
              <a:t>Upload Rate card file &amp; Save</a:t>
            </a:r>
            <a:endParaRPr lang="en-US" sz="1200" dirty="0"/>
          </a:p>
        </p:txBody>
      </p:sp>
      <p:pic>
        <p:nvPicPr>
          <p:cNvPr id="5" name="Picture 4"/>
          <p:cNvPicPr>
            <a:picLocks noChangeAspect="1"/>
          </p:cNvPicPr>
          <p:nvPr/>
        </p:nvPicPr>
        <p:blipFill>
          <a:blip r:embed="rId2"/>
          <a:stretch>
            <a:fillRect/>
          </a:stretch>
        </p:blipFill>
        <p:spPr>
          <a:xfrm>
            <a:off x="520700" y="2476500"/>
            <a:ext cx="10975975" cy="3513324"/>
          </a:xfrm>
          <a:prstGeom prst="rect">
            <a:avLst/>
          </a:prstGeom>
          <a:ln w="12700">
            <a:solidFill>
              <a:schemeClr val="tx1"/>
            </a:solidFill>
          </a:ln>
        </p:spPr>
      </p:pic>
      <p:sp>
        <p:nvSpPr>
          <p:cNvPr id="7" name="Oval 6"/>
          <p:cNvSpPr/>
          <p:nvPr/>
        </p:nvSpPr>
        <p:spPr>
          <a:xfrm>
            <a:off x="2286000" y="2730500"/>
            <a:ext cx="2692400" cy="2921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886700" y="2730500"/>
            <a:ext cx="1587500" cy="2921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905000" y="3517900"/>
            <a:ext cx="9398000" cy="3556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92379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49299"/>
            <a:ext cx="11570208" cy="378505"/>
          </a:xfrm>
        </p:spPr>
        <p:txBody>
          <a:bodyPr/>
          <a:lstStyle/>
          <a:p>
            <a:r>
              <a:rPr lang="en-US" sz="2800" dirty="0" smtClean="0"/>
              <a:t>Rate card Summary</a:t>
            </a:r>
            <a:endParaRPr lang="en-US" sz="2800" dirty="0"/>
          </a:p>
        </p:txBody>
      </p:sp>
      <p:sp>
        <p:nvSpPr>
          <p:cNvPr id="6" name="Text Placeholder 5"/>
          <p:cNvSpPr>
            <a:spLocks noGrp="1"/>
          </p:cNvSpPr>
          <p:nvPr>
            <p:ph type="body" sz="quarter" idx="11"/>
          </p:nvPr>
        </p:nvSpPr>
        <p:spPr>
          <a:xfrm>
            <a:off x="385665" y="1371600"/>
            <a:ext cx="11570208" cy="4618224"/>
          </a:xfrm>
        </p:spPr>
        <p:txBody>
          <a:bodyPr/>
          <a:lstStyle/>
          <a:p>
            <a:pPr>
              <a:buFont typeface="Wingdings" panose="05000000000000000000" pitchFamily="2" charset="2"/>
              <a:buChar char="q"/>
            </a:pPr>
            <a:r>
              <a:rPr lang="en-US" sz="1200" b="1" dirty="0"/>
              <a:t>Step </a:t>
            </a:r>
            <a:r>
              <a:rPr lang="en-US" sz="1200" b="1" dirty="0" smtClean="0"/>
              <a:t>10</a:t>
            </a:r>
            <a:endParaRPr lang="en-US" sz="1200" b="1" dirty="0"/>
          </a:p>
          <a:p>
            <a:r>
              <a:rPr lang="en-US" sz="1200" dirty="0" smtClean="0"/>
              <a:t>Below screen display the Summary details Year wise &amp; Country wise</a:t>
            </a:r>
            <a:endParaRPr lang="en-US" sz="1200" dirty="0"/>
          </a:p>
          <a:p>
            <a:r>
              <a:rPr lang="en-US" sz="1200" dirty="0"/>
              <a:t>User can view the Location wise GM &amp; Consolidate GM &amp; Click on Next</a:t>
            </a:r>
          </a:p>
          <a:p>
            <a:pPr marL="0" indent="0">
              <a:buNone/>
            </a:pPr>
            <a:endParaRPr lang="en-US" sz="1200" b="1" dirty="0" smtClean="0"/>
          </a:p>
          <a:p>
            <a:endParaRPr lang="en-US" sz="1200" b="1" dirty="0"/>
          </a:p>
          <a:p>
            <a:endParaRPr lang="en-US" dirty="0"/>
          </a:p>
        </p:txBody>
      </p:sp>
      <p:pic>
        <p:nvPicPr>
          <p:cNvPr id="7" name="Picture 6"/>
          <p:cNvPicPr>
            <a:picLocks noChangeAspect="1"/>
          </p:cNvPicPr>
          <p:nvPr/>
        </p:nvPicPr>
        <p:blipFill>
          <a:blip r:embed="rId2"/>
          <a:stretch>
            <a:fillRect/>
          </a:stretch>
        </p:blipFill>
        <p:spPr>
          <a:xfrm>
            <a:off x="703164" y="2220995"/>
            <a:ext cx="9353550" cy="3768829"/>
          </a:xfrm>
          <a:prstGeom prst="rect">
            <a:avLst/>
          </a:prstGeom>
          <a:noFill/>
          <a:ln w="9525">
            <a:solidFill>
              <a:schemeClr val="tx1"/>
            </a:solidFill>
          </a:ln>
        </p:spPr>
      </p:pic>
    </p:spTree>
    <p:extLst>
      <p:ext uri="{BB962C8B-B14F-4D97-AF65-F5344CB8AC3E}">
        <p14:creationId xmlns:p14="http://schemas.microsoft.com/office/powerpoint/2010/main" val="5693110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36599"/>
            <a:ext cx="11570208" cy="391205"/>
          </a:xfrm>
        </p:spPr>
        <p:txBody>
          <a:bodyPr/>
          <a:lstStyle/>
          <a:p>
            <a:r>
              <a:rPr lang="en-US" sz="2800" dirty="0" smtClean="0"/>
              <a:t>Finalize Rate Card</a:t>
            </a:r>
            <a:endParaRPr lang="en-US" sz="2800" dirty="0"/>
          </a:p>
          <a:p>
            <a:endParaRPr lang="en-US" dirty="0"/>
          </a:p>
        </p:txBody>
      </p:sp>
      <p:sp>
        <p:nvSpPr>
          <p:cNvPr id="3" name="Text Placeholder 2"/>
          <p:cNvSpPr>
            <a:spLocks noGrp="1"/>
          </p:cNvSpPr>
          <p:nvPr>
            <p:ph type="body" sz="quarter" idx="11"/>
          </p:nvPr>
        </p:nvSpPr>
        <p:spPr/>
        <p:txBody>
          <a:bodyPr/>
          <a:lstStyle/>
          <a:p>
            <a:pPr>
              <a:buFont typeface="Wingdings" panose="05000000000000000000" pitchFamily="2" charset="2"/>
              <a:buChar char="q"/>
            </a:pPr>
            <a:r>
              <a:rPr lang="en-US" b="1" dirty="0"/>
              <a:t>Step </a:t>
            </a:r>
            <a:r>
              <a:rPr lang="en-US" b="1" dirty="0" smtClean="0"/>
              <a:t>11</a:t>
            </a:r>
            <a:endParaRPr lang="en-US" b="1" dirty="0"/>
          </a:p>
          <a:p>
            <a:r>
              <a:rPr lang="en-US" sz="1200" dirty="0"/>
              <a:t>Below screen displays the sequential flow of the approver matrix. </a:t>
            </a:r>
            <a:endParaRPr lang="en-US" sz="1200" dirty="0" smtClean="0"/>
          </a:p>
          <a:p>
            <a:r>
              <a:rPr lang="en-US" sz="1200" dirty="0" smtClean="0"/>
              <a:t>User  </a:t>
            </a:r>
            <a:r>
              <a:rPr lang="en-US" sz="1200" dirty="0"/>
              <a:t>needs to click on Send for Approval to initiate the approval </a:t>
            </a:r>
            <a:r>
              <a:rPr lang="en-US" sz="1200" dirty="0" smtClean="0"/>
              <a:t>flow</a:t>
            </a:r>
          </a:p>
          <a:p>
            <a:r>
              <a:rPr lang="en-US" sz="1200" dirty="0"/>
              <a:t>Based on approval matrix rate card will flow to next level of approval. All rate card has to be approved by BUH &amp; CDO &amp; where Gross GM is less then 35% it has to be approved by CEO</a:t>
            </a:r>
          </a:p>
          <a:p>
            <a:pPr marL="0" indent="0">
              <a:buNone/>
            </a:pPr>
            <a:endParaRPr lang="en-US" sz="1200" dirty="0" smtClean="0"/>
          </a:p>
        </p:txBody>
      </p:sp>
      <p:pic>
        <p:nvPicPr>
          <p:cNvPr id="4" name="Picture 3"/>
          <p:cNvPicPr>
            <a:picLocks noChangeAspect="1"/>
          </p:cNvPicPr>
          <p:nvPr/>
        </p:nvPicPr>
        <p:blipFill>
          <a:blip r:embed="rId2"/>
          <a:stretch>
            <a:fillRect/>
          </a:stretch>
        </p:blipFill>
        <p:spPr>
          <a:xfrm>
            <a:off x="493959" y="2794000"/>
            <a:ext cx="7521230" cy="3084512"/>
          </a:xfrm>
          <a:prstGeom prst="rect">
            <a:avLst/>
          </a:prstGeom>
          <a:ln w="9525">
            <a:solidFill>
              <a:schemeClr val="tx1"/>
            </a:solidFill>
          </a:ln>
        </p:spPr>
      </p:pic>
    </p:spTree>
    <p:extLst>
      <p:ext uri="{BB962C8B-B14F-4D97-AF65-F5344CB8AC3E}">
        <p14:creationId xmlns:p14="http://schemas.microsoft.com/office/powerpoint/2010/main" val="374836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394" y="3256904"/>
            <a:ext cx="3842206" cy="1231106"/>
          </a:xfrm>
          <a:prstGeom prst="rect">
            <a:avLst/>
          </a:prstGeom>
        </p:spPr>
        <p:txBody>
          <a:bodyPr wrap="none" lIns="0" tIns="0" rIns="0" bIns="0">
            <a:spAutoFit/>
          </a:bodyPr>
          <a:lstStyle/>
          <a:p>
            <a:r>
              <a:rPr lang="en-US" sz="1600" dirty="0">
                <a:solidFill>
                  <a:prstClr val="white"/>
                </a:solidFill>
                <a:ea typeface="Verdana" pitchFamily="34" charset="0"/>
                <a:cs typeface="Verdana" pitchFamily="34" charset="0"/>
              </a:rPr>
              <a:t>For more information please contact:</a:t>
            </a:r>
            <a:br>
              <a:rPr lang="en-US" sz="1600" dirty="0">
                <a:solidFill>
                  <a:prstClr val="white"/>
                </a:solidFill>
                <a:ea typeface="Verdana" pitchFamily="34" charset="0"/>
                <a:cs typeface="Verdana" pitchFamily="34" charset="0"/>
              </a:rPr>
            </a:br>
            <a:r>
              <a:rPr lang="en-US" sz="1600" dirty="0">
                <a:solidFill>
                  <a:prstClr val="white"/>
                </a:solidFill>
                <a:ea typeface="Verdana" pitchFamily="34" charset="0"/>
                <a:cs typeface="Verdana" pitchFamily="34" charset="0"/>
              </a:rPr>
              <a:t>T+ 33 1 98765432</a:t>
            </a:r>
            <a:br>
              <a:rPr lang="en-US" sz="1600" dirty="0">
                <a:solidFill>
                  <a:prstClr val="white"/>
                </a:solidFill>
                <a:ea typeface="Verdana" pitchFamily="34" charset="0"/>
                <a:cs typeface="Verdana" pitchFamily="34" charset="0"/>
              </a:rPr>
            </a:br>
            <a:r>
              <a:rPr lang="en-US" sz="1600" dirty="0">
                <a:solidFill>
                  <a:prstClr val="white"/>
                </a:solidFill>
                <a:ea typeface="Verdana" pitchFamily="34" charset="0"/>
                <a:cs typeface="Verdana" pitchFamily="34" charset="0"/>
              </a:rPr>
              <a:t>F+ 33 1 88888888</a:t>
            </a:r>
            <a:br>
              <a:rPr lang="en-US" sz="1600" dirty="0">
                <a:solidFill>
                  <a:prstClr val="white"/>
                </a:solidFill>
                <a:ea typeface="Verdana" pitchFamily="34" charset="0"/>
                <a:cs typeface="Verdana" pitchFamily="34" charset="0"/>
              </a:rPr>
            </a:br>
            <a:r>
              <a:rPr lang="en-US" sz="1600" dirty="0">
                <a:solidFill>
                  <a:prstClr val="white"/>
                </a:solidFill>
                <a:ea typeface="Verdana" pitchFamily="34" charset="0"/>
                <a:cs typeface="Verdana" pitchFamily="34" charset="0"/>
              </a:rPr>
              <a:t>M+ 33 6 44445678</a:t>
            </a:r>
            <a:br>
              <a:rPr lang="en-US" sz="1600" dirty="0">
                <a:solidFill>
                  <a:prstClr val="white"/>
                </a:solidFill>
                <a:ea typeface="Verdana" pitchFamily="34" charset="0"/>
                <a:cs typeface="Verdana" pitchFamily="34" charset="0"/>
              </a:rPr>
            </a:br>
            <a:r>
              <a:rPr lang="en-US" sz="1600" dirty="0">
                <a:solidFill>
                  <a:prstClr val="white"/>
                </a:solidFill>
                <a:ea typeface="Verdana" pitchFamily="34" charset="0"/>
                <a:cs typeface="Verdana" pitchFamily="34" charset="0"/>
              </a:rPr>
              <a:t>firstname.lastname@atos.net</a:t>
            </a:r>
            <a:endParaRPr lang="en-GB" sz="3200" dirty="0"/>
          </a:p>
        </p:txBody>
      </p:sp>
    </p:spTree>
    <p:extLst>
      <p:ext uri="{BB962C8B-B14F-4D97-AF65-F5344CB8AC3E}">
        <p14:creationId xmlns:p14="http://schemas.microsoft.com/office/powerpoint/2010/main" val="3064085426"/>
      </p:ext>
    </p:extLst>
  </p:cSld>
  <p:clrMapOvr>
    <a:masterClrMapping/>
  </p:clrMapOvr>
</p:sld>
</file>

<file path=ppt/theme/theme1.xml><?xml version="1.0" encoding="utf-8"?>
<a:theme xmlns:a="http://schemas.openxmlformats.org/drawingml/2006/main" name="Atos-Syntel">
  <a:themeElements>
    <a:clrScheme name="Atos-Syntel">
      <a:dk1>
        <a:sysClr val="windowText" lastClr="000000"/>
      </a:dk1>
      <a:lt1>
        <a:sysClr val="window" lastClr="FFFFFF"/>
      </a:lt1>
      <a:dk2>
        <a:srgbClr val="3F9C35"/>
      </a:dk2>
      <a:lt2>
        <a:srgbClr val="808080"/>
      </a:lt2>
      <a:accent1>
        <a:srgbClr val="0066A1"/>
      </a:accent1>
      <a:accent2>
        <a:srgbClr val="FF6319"/>
      </a:accent2>
      <a:accent3>
        <a:srgbClr val="AEA400"/>
      </a:accent3>
      <a:accent4>
        <a:srgbClr val="6639B7"/>
      </a:accent4>
      <a:accent5>
        <a:srgbClr val="A626AA"/>
      </a:accent5>
      <a:accent6>
        <a:srgbClr val="00B2A9"/>
      </a:accent6>
      <a:hlink>
        <a:srgbClr val="000000"/>
      </a:hlink>
      <a:folHlink>
        <a:srgbClr val="0563C1"/>
      </a:folHlink>
    </a:clrScheme>
    <a:fontScheme name="Custom 2">
      <a:majorFont>
        <a:latin typeface="Verdana"/>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Atos Complementary Color Pink">
      <a:srgbClr val="D71F85"/>
    </a:custClr>
    <a:custClr name="Atos Complementary Color Dark Grey">
      <a:srgbClr val="898D8D"/>
    </a:custClr>
    <a:custClr name="Atos Complementary Color Light Blue">
      <a:srgbClr val="00AFD8"/>
    </a:custClr>
    <a:custClr name="Atos Complementary Color Blue">
      <a:srgbClr val="0089C4"/>
    </a:custClr>
  </a:custClrLst>
  <a:extLst>
    <a:ext uri="{05A4C25C-085E-4340-85A3-A5531E510DB2}">
      <thm15:themeFamily xmlns:thm15="http://schemas.microsoft.com/office/thememl/2012/main" name="Atos-Syntel Template - Syntel Size" id="{41A5C85C-DEA7-4B22-BFF0-90960A771E3D}" vid="{D457748D-5332-45EE-A8DA-DB86087FA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Atos-Syntel Template</Template>
  <TotalTime>776</TotalTime>
  <Words>678</Words>
  <Application>Microsoft Office PowerPoint</Application>
  <PresentationFormat>Widescreen</PresentationFormat>
  <Paragraphs>94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Lucida Sans Unicode</vt:lpstr>
      <vt:lpstr>Verdana</vt:lpstr>
      <vt:lpstr>Wingdings</vt:lpstr>
      <vt:lpstr>Atos-Syntel</vt:lpstr>
      <vt:lpstr>Rate Card flow in Right Price 2.0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Pathak, Shailendra</dc:creator>
  <cp:lastModifiedBy>Dhanuka, Vivek</cp:lastModifiedBy>
  <cp:revision>69</cp:revision>
  <dcterms:created xsi:type="dcterms:W3CDTF">2019-02-20T09:40:57Z</dcterms:created>
  <dcterms:modified xsi:type="dcterms:W3CDTF">2019-02-28T13:51:59Z</dcterms:modified>
</cp:coreProperties>
</file>