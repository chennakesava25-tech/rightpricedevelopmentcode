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29"/>
  </p:handoutMasterIdLst>
  <p:sldIdLst>
    <p:sldId id="257" r:id="rId2"/>
    <p:sldId id="262" r:id="rId3"/>
    <p:sldId id="292" r:id="rId4"/>
    <p:sldId id="293" r:id="rId5"/>
    <p:sldId id="294" r:id="rId6"/>
    <p:sldId id="263" r:id="rId7"/>
    <p:sldId id="264" r:id="rId8"/>
    <p:sldId id="291" r:id="rId9"/>
    <p:sldId id="265" r:id="rId10"/>
    <p:sldId id="266" r:id="rId11"/>
    <p:sldId id="267" r:id="rId12"/>
    <p:sldId id="268" r:id="rId13"/>
    <p:sldId id="269" r:id="rId14"/>
    <p:sldId id="295" r:id="rId15"/>
    <p:sldId id="270" r:id="rId16"/>
    <p:sldId id="271" r:id="rId17"/>
    <p:sldId id="298" r:id="rId18"/>
    <p:sldId id="299" r:id="rId19"/>
    <p:sldId id="272" r:id="rId20"/>
    <p:sldId id="296" r:id="rId21"/>
    <p:sldId id="297" r:id="rId22"/>
    <p:sldId id="273" r:id="rId23"/>
    <p:sldId id="274" r:id="rId24"/>
    <p:sldId id="275" r:id="rId25"/>
    <p:sldId id="276" r:id="rId26"/>
    <p:sldId id="277" r:id="rId27"/>
    <p:sldId id="260" r:id="rId28"/>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09" userDrawn="1">
          <p15:clr>
            <a:srgbClr val="A4A3A4"/>
          </p15:clr>
        </p15:guide>
        <p15:guide id="2" pos="7533" userDrawn="1">
          <p15:clr>
            <a:srgbClr val="A4A3A4"/>
          </p15:clr>
        </p15:guide>
        <p15:guide id="3" orient="horz" pos="4032" userDrawn="1">
          <p15:clr>
            <a:srgbClr val="A4A3A4"/>
          </p15:clr>
        </p15:guide>
        <p15:guide id="4" pos="23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hanuka, Vivek" initials="DV" lastIdx="1" clrIdx="0">
    <p:extLst>
      <p:ext uri="{19B8F6BF-5375-455C-9EA6-DF929625EA0E}">
        <p15:presenceInfo xmlns:p15="http://schemas.microsoft.com/office/powerpoint/2012/main" userId="S-1-5-21-2274170778-142023422-1214502887-8324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showGuides="1">
      <p:cViewPr varScale="1">
        <p:scale>
          <a:sx n="76" d="100"/>
          <a:sy n="76" d="100"/>
        </p:scale>
        <p:origin x="126" y="792"/>
      </p:cViewPr>
      <p:guideLst>
        <p:guide orient="horz" pos="909"/>
        <p:guide pos="7533"/>
        <p:guide orient="horz" pos="4032"/>
        <p:guide pos="239"/>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3" d="100"/>
          <a:sy n="63" d="100"/>
        </p:scale>
        <p:origin x="2838"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3017FB-A3A3-4636-8859-DF1D178384E4}" type="datetimeFigureOut">
              <a:rPr lang="en-GB" smtClean="0"/>
              <a:t>27/02/2019</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50807-FC0B-4E7C-A840-341EC805AA05}" type="slidenum">
              <a:rPr lang="en-GB" smtClean="0"/>
              <a:t>‹#›</a:t>
            </a:fld>
            <a:endParaRPr lang="en-GB" dirty="0"/>
          </a:p>
        </p:txBody>
      </p:sp>
    </p:spTree>
    <p:extLst>
      <p:ext uri="{BB962C8B-B14F-4D97-AF65-F5344CB8AC3E}">
        <p14:creationId xmlns:p14="http://schemas.microsoft.com/office/powerpoint/2010/main" val="207100631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AAB3C45-CA8C-4F49-82D6-C9852E174F8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390532" y="2950236"/>
            <a:ext cx="11160125" cy="984885"/>
          </a:xfrm>
        </p:spPr>
        <p:txBody>
          <a:bodyPr tIns="0" bIns="0" anchor="ctr">
            <a:spAutoFit/>
          </a:bodyPr>
          <a:lstStyle>
            <a:lvl1pPr algn="l">
              <a:defRPr sz="6400" b="0">
                <a:solidFill>
                  <a:schemeClr val="bg1"/>
                </a:solidFill>
              </a:defRPr>
            </a:lvl1pPr>
          </a:lstStyle>
          <a:p>
            <a:r>
              <a:rPr lang="en-US" dirty="0"/>
              <a:t>Cover Title</a:t>
            </a:r>
          </a:p>
        </p:txBody>
      </p:sp>
      <p:sp>
        <p:nvSpPr>
          <p:cNvPr id="3" name="Subtitle 2"/>
          <p:cNvSpPr>
            <a:spLocks noGrp="1"/>
          </p:cNvSpPr>
          <p:nvPr>
            <p:ph type="subTitle" idx="1" hasCustomPrompt="1"/>
          </p:nvPr>
        </p:nvSpPr>
        <p:spPr>
          <a:xfrm>
            <a:off x="390533" y="5703555"/>
            <a:ext cx="3713601" cy="287259"/>
          </a:xfrm>
        </p:spPr>
        <p:txBody>
          <a:bodyPr wrap="none" anchor="b"/>
          <a:lstStyle>
            <a:lvl1pPr marL="0" indent="0" algn="l">
              <a:buNone/>
              <a:defRPr sz="18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Date</a:t>
            </a:r>
          </a:p>
        </p:txBody>
      </p:sp>
      <p:pic>
        <p:nvPicPr>
          <p:cNvPr id="11" name="Picture 10">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Classification"/>
          <p:cNvSpPr txBox="1">
            <a:spLocks noChangeArrowheads="1"/>
          </p:cNvSpPr>
          <p:nvPr userDrawn="1"/>
        </p:nvSpPr>
        <p:spPr bwMode="auto">
          <a:xfrm>
            <a:off x="5356055" y="6233424"/>
            <a:ext cx="1479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1000" b="0" dirty="0">
                <a:solidFill>
                  <a:schemeClr val="bg1"/>
                </a:solidFill>
                <a:latin typeface="+mn-lt"/>
                <a:ea typeface="Verdana" pitchFamily="34" charset="0"/>
                <a:cs typeface="Verdana" pitchFamily="34" charset="0"/>
              </a:rPr>
              <a:t>© 2018 Syntel, Inc.</a:t>
            </a:r>
          </a:p>
        </p:txBody>
      </p:sp>
      <p:pic>
        <p:nvPicPr>
          <p:cNvPr id="12" name="Pictur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6075" y="6316801"/>
            <a:ext cx="2180299" cy="114767"/>
          </a:xfrm>
          <a:prstGeom prst="rect">
            <a:avLst/>
          </a:prstGeom>
        </p:spPr>
      </p:pic>
    </p:spTree>
    <p:extLst>
      <p:ext uri="{BB962C8B-B14F-4D97-AF65-F5344CB8AC3E}">
        <p14:creationId xmlns:p14="http://schemas.microsoft.com/office/powerpoint/2010/main" val="20617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
        <p:nvSpPr>
          <p:cNvPr id="10" name="Text Placeholder 9"/>
          <p:cNvSpPr>
            <a:spLocks noGrp="1"/>
          </p:cNvSpPr>
          <p:nvPr>
            <p:ph type="body" sz="quarter" idx="11" hasCustomPrompt="1"/>
          </p:nvPr>
        </p:nvSpPr>
        <p:spPr>
          <a:xfrm>
            <a:off x="385665" y="1454400"/>
            <a:ext cx="11570208" cy="4535424"/>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68683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Tree>
    <p:extLst>
      <p:ext uri="{BB962C8B-B14F-4D97-AF65-F5344CB8AC3E}">
        <p14:creationId xmlns:p14="http://schemas.microsoft.com/office/powerpoint/2010/main" val="4174767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WO Toplin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pic>
        <p:nvPicPr>
          <p:cNvPr id="5" name="Picture 4">
            <a:extLst>
              <a:ext uri="{FF2B5EF4-FFF2-40B4-BE49-F238E27FC236}">
                <a16:creationId xmlns:a16="http://schemas.microsoft.com/office/drawing/2014/main" id="{606E602D-FA1B-4AE5-B8F2-F42DAE337B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6" name="Straight Connector 5"/>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7"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329378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94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gray">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E1C74D-134F-4EB2-9532-ED3805FDC89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TextBox 9"/>
          <p:cNvSpPr txBox="1"/>
          <p:nvPr userDrawn="1"/>
        </p:nvSpPr>
        <p:spPr>
          <a:xfrm>
            <a:off x="395394" y="1218353"/>
            <a:ext cx="5351401" cy="1231106"/>
          </a:xfrm>
          <a:prstGeom prst="rect">
            <a:avLst/>
          </a:prstGeom>
          <a:noFill/>
        </p:spPr>
        <p:txBody>
          <a:bodyPr wrap="none" lIns="0" tIns="0" rIns="0" bIns="0" rtlCol="0">
            <a:spAutoFit/>
          </a:bodyPr>
          <a:lstStyle/>
          <a:p>
            <a:r>
              <a:rPr lang="en-GB" sz="8000" dirty="0">
                <a:solidFill>
                  <a:schemeClr val="bg1"/>
                </a:solidFill>
              </a:rPr>
              <a:t>Thank You</a:t>
            </a:r>
          </a:p>
        </p:txBody>
      </p:sp>
      <p:pic>
        <p:nvPicPr>
          <p:cNvPr id="9" name="Picture 8">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Notifier#1"/>
          <p:cNvSpPr txBox="1">
            <a:spLocks noChangeArrowheads="1"/>
          </p:cNvSpPr>
          <p:nvPr userDrawn="1"/>
        </p:nvSpPr>
        <p:spPr bwMode="auto">
          <a:xfrm>
            <a:off x="397449" y="5859664"/>
            <a:ext cx="6732556" cy="574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900" kern="1200" dirty="0">
                <a:solidFill>
                  <a:schemeClr val="bg1"/>
                </a:solidFill>
                <a:latin typeface="+mn-lt"/>
                <a:ea typeface="Verdana" pitchFamily="34" charset="0"/>
                <a:cs typeface="Verdana" pitchFamily="34" charset="0"/>
              </a:rPr>
              <a:t>Atos, the Atos logo, Atos Codex, Atos Consulting, Atos Syntel, Atos Worldgrid, Bull, Canopy, equensWorldline, Unify, Worldline and Zero Email are registered trademarks of the Atos group. September 2018. © 2018 Atos. Confidential information owned by Atos, to be used by the recipient only. This document, or any part of it, may not be reproduced, copied, circulated and/or distributed nor quoted without prior written approval from Atos.</a:t>
            </a:r>
            <a:endParaRPr lang="en-US" sz="900" dirty="0">
              <a:solidFill>
                <a:schemeClr val="bg1"/>
              </a:solidFill>
              <a:latin typeface="+mn-lt"/>
              <a:ea typeface="Verdana" pitchFamily="34" charset="0"/>
              <a:cs typeface="Verdana" pitchFamily="34" charset="0"/>
            </a:endParaRPr>
          </a:p>
        </p:txBody>
      </p:sp>
    </p:spTree>
    <p:extLst>
      <p:ext uri="{BB962C8B-B14F-4D97-AF65-F5344CB8AC3E}">
        <p14:creationId xmlns:p14="http://schemas.microsoft.com/office/powerpoint/2010/main" val="363703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pic>
        <p:nvPicPr>
          <p:cNvPr id="69" name="Picture 6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 y="2079122"/>
            <a:ext cx="12222469"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650160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1"/>
        </a:soli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936" y="2046008"/>
            <a:ext cx="12256619" cy="273411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719359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253"/>
            <a:ext cx="12240683" cy="273562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08517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9122"/>
            <a:ext cx="12240683"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3438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5">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0683" cy="2701776"/>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1520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6">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40489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7">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13974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8">
    <p:bg>
      <p:bgPr>
        <a:solidFill>
          <a:schemeClr val="accent1"/>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185321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9">
    <p:bg>
      <p:bgPr>
        <a:solidFill>
          <a:schemeClr val="accent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98839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1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317045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11">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029" y="2080354"/>
            <a:ext cx="12263712" cy="2697292"/>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5991572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12">
    <p:bg>
      <p:bgPr>
        <a:solidFill>
          <a:schemeClr val="accent1"/>
        </a:solidFill>
        <a:effectLst/>
      </p:bgPr>
    </p:bg>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08"/>
            <a:ext cx="12248651" cy="2734113"/>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37197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13">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026"/>
            <a:ext cx="12248651"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6241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14">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63142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15">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8651" cy="2701776"/>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3246901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16">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0906602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7">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79346"/>
            <a:ext cx="12272555" cy="2699309"/>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893104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18">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026"/>
            <a:ext cx="12272555"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9655939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19">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253"/>
            <a:ext cx="12272555" cy="2735623"/>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2263715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2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67175"/>
            <a:ext cx="12272555" cy="2723651"/>
          </a:xfrm>
          <a:prstGeom prst="rect">
            <a:avLst/>
          </a:prstGeom>
        </p:spPr>
      </p:pic>
      <p:sp>
        <p:nvSpPr>
          <p:cNvPr id="5" name="Text Placeholder 4"/>
          <p:cNvSpPr>
            <a:spLocks noGrp="1"/>
          </p:cNvSpPr>
          <p:nvPr>
            <p:ph type="body" sz="quarter" idx="10"/>
          </p:nvPr>
        </p:nvSpPr>
        <p:spPr>
          <a:xfrm>
            <a:off x="6642099" y="2247901"/>
            <a:ext cx="53255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599150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5665" y="164637"/>
            <a:ext cx="11566985" cy="963168"/>
          </a:xfrm>
          <a:prstGeom prst="rect">
            <a:avLst/>
          </a:prstGeom>
        </p:spPr>
        <p:txBody>
          <a:bodyPr vert="horz" lIns="0" tIns="45720" rIns="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5665" y="1454400"/>
            <a:ext cx="11570208" cy="4535424"/>
          </a:xfrm>
          <a:prstGeom prst="rect">
            <a:avLst/>
          </a:prstGeom>
        </p:spPr>
        <p:txBody>
          <a:bodyPr vert="horz" lIns="0" tIns="0" rIns="0" bIns="0" rtlCol="0">
            <a:no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2" name="Straight Connector 31"/>
          <p:cNvCxnSpPr>
            <a:cxnSpLocks/>
          </p:cNvCxnSpPr>
          <p:nvPr userDrawn="1"/>
        </p:nvCxnSpPr>
        <p:spPr>
          <a:xfrm>
            <a:off x="385666" y="1259909"/>
            <a:ext cx="11813909" cy="0"/>
          </a:xfrm>
          <a:prstGeom prst="line">
            <a:avLst/>
          </a:prstGeom>
          <a:ln w="15875"/>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606E602D-FA1B-4AE5-B8F2-F42DAE337BD8}"/>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34" name="Straight Connector 33"/>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8"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29">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474966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8" r:id="rId4"/>
    <p:sldLayoutId id="2147483690" r:id="rId5"/>
    <p:sldLayoutId id="2147483689"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Lst>
  <p:txStyles>
    <p:titleStyle>
      <a:lvl1pPr algn="l" defTabSz="914377"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365751" indent="-365751" algn="l" defTabSz="914377" rtl="0" eaLnBrk="1" latinLnBrk="0" hangingPunct="1">
        <a:lnSpc>
          <a:spcPct val="100000"/>
        </a:lnSpc>
        <a:spcBef>
          <a:spcPts val="0"/>
        </a:spcBef>
        <a:spcAft>
          <a:spcPts val="400"/>
        </a:spcAft>
        <a:buClr>
          <a:schemeClr val="accent1"/>
        </a:buClr>
        <a:buFont typeface="Lucida Sans Unicode" panose="020B0602030504020204" pitchFamily="34" charset="0"/>
        <a:buChar char="▶"/>
        <a:defRPr sz="1800" kern="1200">
          <a:solidFill>
            <a:schemeClr val="tx1"/>
          </a:solidFill>
          <a:latin typeface="+mn-lt"/>
          <a:ea typeface="+mn-ea"/>
          <a:cs typeface="+mn-cs"/>
        </a:defRPr>
      </a:lvl1pPr>
      <a:lvl2pPr marL="731502"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532" userDrawn="1">
          <p15:clr>
            <a:srgbClr val="F26B43"/>
          </p15:clr>
        </p15:guide>
        <p15:guide id="2" orient="horz" pos="911" userDrawn="1">
          <p15:clr>
            <a:srgbClr val="F26B43"/>
          </p15:clr>
        </p15:guide>
        <p15:guide id="3" orient="horz" pos="3779" userDrawn="1">
          <p15:clr>
            <a:srgbClr val="F26B43"/>
          </p15:clr>
        </p15:guide>
        <p15:guide id="4" pos="23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0532" y="2535026"/>
            <a:ext cx="11268068" cy="1231106"/>
          </a:xfrm>
        </p:spPr>
        <p:txBody>
          <a:bodyPr/>
          <a:lstStyle/>
          <a:p>
            <a:r>
              <a:rPr lang="en-GB" sz="4000" dirty="0" smtClean="0"/>
              <a:t>Rate card flow in Right Price 2.0 Application</a:t>
            </a:r>
            <a:endParaRPr lang="en-GB" sz="4000" dirty="0"/>
          </a:p>
        </p:txBody>
      </p:sp>
      <p:sp>
        <p:nvSpPr>
          <p:cNvPr id="3" name="Subtitle 2"/>
          <p:cNvSpPr>
            <a:spLocks noGrp="1"/>
          </p:cNvSpPr>
          <p:nvPr>
            <p:ph type="subTitle" idx="1"/>
          </p:nvPr>
        </p:nvSpPr>
        <p:spPr/>
        <p:txBody>
          <a:bodyPr/>
          <a:lstStyle/>
          <a:p>
            <a:r>
              <a:rPr lang="en-GB" dirty="0" smtClean="0"/>
              <a:t>20</a:t>
            </a:r>
            <a:r>
              <a:rPr lang="en-GB" baseline="30000" dirty="0" smtClean="0"/>
              <a:t>th</a:t>
            </a:r>
            <a:r>
              <a:rPr lang="en-GB" dirty="0" smtClean="0"/>
              <a:t> February,2019</a:t>
            </a:r>
            <a:endParaRPr lang="en-GB" dirty="0"/>
          </a:p>
        </p:txBody>
      </p:sp>
    </p:spTree>
    <p:extLst>
      <p:ext uri="{BB962C8B-B14F-4D97-AF65-F5344CB8AC3E}">
        <p14:creationId xmlns:p14="http://schemas.microsoft.com/office/powerpoint/2010/main" val="35193222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85664" y="838199"/>
            <a:ext cx="11570208" cy="569005"/>
          </a:xfrm>
        </p:spPr>
        <p:txBody>
          <a:bodyPr/>
          <a:lstStyle/>
          <a:p>
            <a:r>
              <a:rPr lang="en-GB" sz="2800" dirty="0" smtClean="0"/>
              <a:t>Table of Contents</a:t>
            </a:r>
            <a:endParaRPr lang="en-GB" sz="2800" dirty="0"/>
          </a:p>
        </p:txBody>
      </p:sp>
      <p:sp>
        <p:nvSpPr>
          <p:cNvPr id="2" name="Rectangle 1"/>
          <p:cNvSpPr/>
          <p:nvPr/>
        </p:nvSpPr>
        <p:spPr>
          <a:xfrm>
            <a:off x="385664" y="1558598"/>
            <a:ext cx="11570208" cy="4585871"/>
          </a:xfrm>
          <a:prstGeom prst="rect">
            <a:avLst/>
          </a:prstGeom>
        </p:spPr>
        <p:txBody>
          <a:bodyPr wrap="square">
            <a:spAutoFit/>
          </a:bodyPr>
          <a:lstStyle/>
          <a:p>
            <a:r>
              <a:rPr lang="en-US" sz="1600" b="1" u="sng" dirty="0" smtClean="0">
                <a:solidFill>
                  <a:srgbClr val="000000"/>
                </a:solidFill>
              </a:rPr>
              <a:t>Introduction:</a:t>
            </a:r>
          </a:p>
          <a:p>
            <a:endParaRPr lang="en-US" sz="1600" b="1" dirty="0" smtClean="0">
              <a:solidFill>
                <a:srgbClr val="000000"/>
              </a:solidFill>
            </a:endParaRPr>
          </a:p>
          <a:p>
            <a:r>
              <a:rPr lang="en-US" sz="1600" dirty="0" smtClean="0">
                <a:solidFill>
                  <a:srgbClr val="000000"/>
                </a:solidFill>
              </a:rPr>
              <a:t>Right </a:t>
            </a:r>
            <a:r>
              <a:rPr lang="en-US" sz="1600" dirty="0">
                <a:solidFill>
                  <a:srgbClr val="000000"/>
                </a:solidFill>
              </a:rPr>
              <a:t>Price 2.0 portal is an enhanced version of the existing Right Price application with new, improvised additional features. The purpose or intent of the document is to capture to be functionality and overall flow of the application. The intent of new portal is to create an application with better User interface, maintainable application with performance improvements</a:t>
            </a:r>
            <a:r>
              <a:rPr lang="en-US" sz="1600" dirty="0" smtClean="0">
                <a:solidFill>
                  <a:srgbClr val="000000"/>
                </a:solidFill>
              </a:rPr>
              <a:t>.</a:t>
            </a:r>
          </a:p>
          <a:p>
            <a:endParaRPr lang="en-US" sz="1600" dirty="0" smtClean="0">
              <a:solidFill>
                <a:srgbClr val="000000"/>
              </a:solidFill>
            </a:endParaRPr>
          </a:p>
          <a:p>
            <a:endParaRPr lang="en-US" sz="1600" dirty="0">
              <a:solidFill>
                <a:srgbClr val="000000"/>
              </a:solidFill>
            </a:endParaRPr>
          </a:p>
          <a:p>
            <a:r>
              <a:rPr lang="en-US" sz="1600" b="1" u="sng" dirty="0"/>
              <a:t>Table of </a:t>
            </a:r>
            <a:r>
              <a:rPr lang="en-US" sz="1600" b="1" u="sng" dirty="0" smtClean="0"/>
              <a:t>Contents:</a:t>
            </a:r>
          </a:p>
          <a:p>
            <a:endParaRPr lang="en-US" sz="1600" dirty="0" smtClean="0"/>
          </a:p>
          <a:p>
            <a:r>
              <a:rPr lang="en-US" sz="1600" dirty="0" smtClean="0"/>
              <a:t>The </a:t>
            </a:r>
            <a:r>
              <a:rPr lang="en-US" sz="1600" dirty="0"/>
              <a:t>document is exclusively meant for Atos Syntel Employees having valid Syntel credentials belonging to either Delivery, </a:t>
            </a:r>
            <a:r>
              <a:rPr lang="en-US" sz="1600" dirty="0" smtClean="0"/>
              <a:t>GFT</a:t>
            </a:r>
            <a:r>
              <a:rPr lang="en-US" sz="1600" dirty="0"/>
              <a:t>, BU Head, CDO, CEO Delivery Head or CEO Office.</a:t>
            </a:r>
            <a:endParaRPr lang="en-US" sz="1600" dirty="0" smtClean="0"/>
          </a:p>
          <a:p>
            <a:endParaRPr lang="en-US" sz="2000" dirty="0">
              <a:latin typeface="+mj-lt"/>
            </a:endParaRPr>
          </a:p>
          <a:p>
            <a:endParaRPr lang="en-US" sz="2000" dirty="0" smtClean="0">
              <a:latin typeface="+mj-lt"/>
            </a:endParaRPr>
          </a:p>
          <a:p>
            <a:endParaRPr lang="en-US" sz="2000" dirty="0">
              <a:latin typeface="+mj-lt"/>
            </a:endParaRPr>
          </a:p>
          <a:p>
            <a:endParaRPr lang="en-US" sz="2000" dirty="0">
              <a:latin typeface="+mj-lt"/>
            </a:endParaRPr>
          </a:p>
          <a:p>
            <a:endParaRPr lang="en-US" sz="2000" dirty="0">
              <a:latin typeface="+mj-lt"/>
            </a:endParaRPr>
          </a:p>
        </p:txBody>
      </p:sp>
    </p:spTree>
    <p:extLst>
      <p:ext uri="{BB962C8B-B14F-4D97-AF65-F5344CB8AC3E}">
        <p14:creationId xmlns:p14="http://schemas.microsoft.com/office/powerpoint/2010/main" val="19807481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38200"/>
            <a:ext cx="11570208" cy="227588"/>
          </a:xfrm>
        </p:spPr>
        <p:txBody>
          <a:bodyPr/>
          <a:lstStyle/>
          <a:p>
            <a:r>
              <a:rPr lang="en-GB" sz="2800" dirty="0"/>
              <a:t>Table of Contents</a:t>
            </a:r>
          </a:p>
          <a:p>
            <a:endParaRPr lang="en-US" dirty="0"/>
          </a:p>
        </p:txBody>
      </p:sp>
      <p:sp>
        <p:nvSpPr>
          <p:cNvPr id="7" name="TextBox 6"/>
          <p:cNvSpPr txBox="1"/>
          <p:nvPr/>
        </p:nvSpPr>
        <p:spPr>
          <a:xfrm>
            <a:off x="520700" y="1727200"/>
            <a:ext cx="9423400" cy="2923877"/>
          </a:xfrm>
          <a:prstGeom prst="rect">
            <a:avLst/>
          </a:prstGeom>
          <a:noFill/>
        </p:spPr>
        <p:txBody>
          <a:bodyPr wrap="square" rtlCol="0">
            <a:spAutoFit/>
          </a:bodyPr>
          <a:lstStyle/>
          <a:p>
            <a:r>
              <a:rPr lang="en-US" sz="1600" dirty="0" smtClean="0"/>
              <a:t>Below are the screens available under Rate card Menu:</a:t>
            </a:r>
          </a:p>
          <a:p>
            <a:pPr marL="342900" indent="-342900">
              <a:buFont typeface="Arial" panose="020B0604020202020204" pitchFamily="34" charset="0"/>
              <a:buChar char="•"/>
            </a:pPr>
            <a:r>
              <a:rPr lang="en-US" sz="1600" dirty="0"/>
              <a:t>Rate Card Creation </a:t>
            </a:r>
            <a:r>
              <a:rPr lang="en-US" sz="1600" dirty="0" smtClean="0"/>
              <a:t>– Details</a:t>
            </a:r>
          </a:p>
          <a:p>
            <a:pPr marL="342900" indent="-342900">
              <a:buFont typeface="Arial" panose="020B0604020202020204" pitchFamily="34" charset="0"/>
              <a:buChar char="•"/>
            </a:pPr>
            <a:r>
              <a:rPr lang="en-US" sz="1600" dirty="0"/>
              <a:t>Role </a:t>
            </a:r>
            <a:r>
              <a:rPr lang="en-US" sz="1600" dirty="0" smtClean="0"/>
              <a:t>Selection</a:t>
            </a:r>
          </a:p>
          <a:p>
            <a:pPr marL="342900" indent="-342900">
              <a:buFont typeface="Arial" panose="020B0604020202020204" pitchFamily="34" charset="0"/>
              <a:buChar char="•"/>
            </a:pPr>
            <a:r>
              <a:rPr lang="en-US" sz="1600" dirty="0" smtClean="0"/>
              <a:t>Role Selection – Contractor Roles</a:t>
            </a:r>
            <a:endParaRPr lang="en-US" sz="1600" dirty="0" smtClean="0"/>
          </a:p>
          <a:p>
            <a:pPr marL="342900" indent="-342900">
              <a:buFont typeface="Arial" panose="020B0604020202020204" pitchFamily="34" charset="0"/>
              <a:buChar char="•"/>
            </a:pPr>
            <a:r>
              <a:rPr lang="en-US" sz="1600" dirty="0" smtClean="0"/>
              <a:t>Role </a:t>
            </a:r>
            <a:r>
              <a:rPr lang="en-US" sz="1600" dirty="0"/>
              <a:t>Utilization And </a:t>
            </a:r>
            <a:r>
              <a:rPr lang="en-US" sz="1600" dirty="0" smtClean="0"/>
              <a:t>Rates</a:t>
            </a:r>
          </a:p>
          <a:p>
            <a:pPr marL="342900" indent="-342900">
              <a:buFont typeface="Arial" panose="020B0604020202020204" pitchFamily="34" charset="0"/>
              <a:buChar char="•"/>
            </a:pPr>
            <a:r>
              <a:rPr lang="en-US" sz="1600" dirty="0" smtClean="0"/>
              <a:t>Summary</a:t>
            </a:r>
          </a:p>
          <a:p>
            <a:pPr marL="342900" indent="-342900">
              <a:buFont typeface="Arial" panose="020B0604020202020204" pitchFamily="34" charset="0"/>
              <a:buChar char="•"/>
            </a:pPr>
            <a:r>
              <a:rPr lang="en-US" sz="1600" dirty="0"/>
              <a:t>Finalize Rate Card</a:t>
            </a:r>
            <a:endParaRPr lang="en-US" sz="1600" dirty="0" smtClean="0"/>
          </a:p>
          <a:p>
            <a:pPr marL="342900" indent="-342900">
              <a:buFont typeface="Arial" panose="020B0604020202020204" pitchFamily="34" charset="0"/>
              <a:buChar char="•"/>
            </a:pPr>
            <a:endParaRPr lang="en-US" dirty="0" smtClean="0"/>
          </a:p>
          <a:p>
            <a:endParaRPr lang="en-US" dirty="0"/>
          </a:p>
          <a:p>
            <a:endParaRPr lang="en-US" dirty="0"/>
          </a:p>
        </p:txBody>
      </p:sp>
    </p:spTree>
    <p:extLst>
      <p:ext uri="{BB962C8B-B14F-4D97-AF65-F5344CB8AC3E}">
        <p14:creationId xmlns:p14="http://schemas.microsoft.com/office/powerpoint/2010/main" val="27582984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12800"/>
            <a:ext cx="11570208" cy="315004"/>
          </a:xfrm>
        </p:spPr>
        <p:txBody>
          <a:bodyPr/>
          <a:lstStyle/>
          <a:p>
            <a:r>
              <a:rPr lang="en-GB" sz="2800" dirty="0"/>
              <a:t>Table of Contents</a:t>
            </a:r>
          </a:p>
        </p:txBody>
      </p:sp>
      <p:sp>
        <p:nvSpPr>
          <p:cNvPr id="3" name="TextBox 2"/>
          <p:cNvSpPr txBox="1"/>
          <p:nvPr/>
        </p:nvSpPr>
        <p:spPr>
          <a:xfrm>
            <a:off x="482600" y="1752600"/>
            <a:ext cx="11163300" cy="3200876"/>
          </a:xfrm>
          <a:prstGeom prst="rect">
            <a:avLst/>
          </a:prstGeom>
          <a:noFill/>
        </p:spPr>
        <p:txBody>
          <a:bodyPr wrap="square" rtlCol="0">
            <a:spAutoFit/>
          </a:bodyPr>
          <a:lstStyle/>
          <a:p>
            <a:r>
              <a:rPr lang="en-US" sz="1600" dirty="0"/>
              <a:t>Rate cards module shall allow the Delivery team to create new Rate Cards for all those customers, which the logged in user has access to and belonging to the logged in user’s Vertical. Below are the several combinations in which the Rate Cards can be created</a:t>
            </a:r>
            <a:r>
              <a:rPr lang="en-US" sz="1600" dirty="0" smtClean="0"/>
              <a:t>.</a:t>
            </a:r>
          </a:p>
          <a:p>
            <a:pPr marL="285750" indent="-285750">
              <a:buFont typeface="Arial" panose="020B0604020202020204" pitchFamily="34" charset="0"/>
              <a:buChar char="•"/>
            </a:pPr>
            <a:r>
              <a:rPr lang="en-US" sz="1600" dirty="0" smtClean="0"/>
              <a:t>Automatic</a:t>
            </a:r>
          </a:p>
          <a:p>
            <a:pPr marL="285750" indent="-285750">
              <a:buFont typeface="Arial" panose="020B0604020202020204" pitchFamily="34" charset="0"/>
              <a:buChar char="•"/>
            </a:pPr>
            <a:r>
              <a:rPr lang="en-US" sz="1600" dirty="0" smtClean="0"/>
              <a:t>Manual</a:t>
            </a:r>
          </a:p>
          <a:p>
            <a:pPr marL="285750" indent="-285750">
              <a:buFont typeface="Arial" panose="020B0604020202020204" pitchFamily="34" charset="0"/>
              <a:buChar char="•"/>
            </a:pPr>
            <a:r>
              <a:rPr lang="en-US" sz="1600" dirty="0" smtClean="0"/>
              <a:t>Hybrid</a:t>
            </a:r>
          </a:p>
          <a:p>
            <a:pPr marL="285750" indent="-285750">
              <a:buFont typeface="Arial" panose="020B0604020202020204" pitchFamily="34" charset="0"/>
              <a:buChar char="•"/>
            </a:pPr>
            <a:r>
              <a:rPr lang="en-US" sz="1600" dirty="0" smtClean="0"/>
              <a:t>KPO</a:t>
            </a:r>
          </a:p>
          <a:p>
            <a:endParaRPr lang="en-US" sz="1800" dirty="0"/>
          </a:p>
          <a:p>
            <a:endParaRPr lang="en-US" sz="1800" dirty="0" smtClean="0"/>
          </a:p>
          <a:p>
            <a:endParaRPr lang="en-US" sz="1800" dirty="0"/>
          </a:p>
          <a:p>
            <a:endParaRPr lang="en-US" sz="1800" dirty="0" smtClean="0"/>
          </a:p>
          <a:p>
            <a:endParaRPr lang="en-US" sz="1800" dirty="0"/>
          </a:p>
        </p:txBody>
      </p:sp>
    </p:spTree>
    <p:extLst>
      <p:ext uri="{BB962C8B-B14F-4D97-AF65-F5344CB8AC3E}">
        <p14:creationId xmlns:p14="http://schemas.microsoft.com/office/powerpoint/2010/main" val="25429146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25500"/>
            <a:ext cx="11570208" cy="302304"/>
          </a:xfrm>
        </p:spPr>
        <p:txBody>
          <a:bodyPr/>
          <a:lstStyle/>
          <a:p>
            <a:r>
              <a:rPr lang="en-GB" sz="2800" dirty="0"/>
              <a:t>Table of Contents</a:t>
            </a:r>
          </a:p>
        </p:txBody>
      </p:sp>
      <p:pic>
        <p:nvPicPr>
          <p:cNvPr id="4" name="Picture 3"/>
          <p:cNvPicPr>
            <a:picLocks noChangeAspect="1"/>
          </p:cNvPicPr>
          <p:nvPr/>
        </p:nvPicPr>
        <p:blipFill>
          <a:blip r:embed="rId2"/>
          <a:stretch>
            <a:fillRect/>
          </a:stretch>
        </p:blipFill>
        <p:spPr>
          <a:xfrm>
            <a:off x="385664" y="1371600"/>
            <a:ext cx="10180736" cy="4508500"/>
          </a:xfrm>
          <a:prstGeom prst="rect">
            <a:avLst/>
          </a:prstGeom>
        </p:spPr>
      </p:pic>
    </p:spTree>
    <p:extLst>
      <p:ext uri="{BB962C8B-B14F-4D97-AF65-F5344CB8AC3E}">
        <p14:creationId xmlns:p14="http://schemas.microsoft.com/office/powerpoint/2010/main" val="5283483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25499"/>
            <a:ext cx="11570208" cy="569005"/>
          </a:xfrm>
        </p:spPr>
        <p:txBody>
          <a:bodyPr/>
          <a:lstStyle/>
          <a:p>
            <a:r>
              <a:rPr lang="en-US" sz="2800" dirty="0" smtClean="0"/>
              <a:t>Delivery Log In</a:t>
            </a:r>
            <a:endParaRPr lang="en-US" sz="2800" dirty="0"/>
          </a:p>
        </p:txBody>
      </p:sp>
      <p:sp>
        <p:nvSpPr>
          <p:cNvPr id="3" name="TextBox 2"/>
          <p:cNvSpPr txBox="1"/>
          <p:nvPr/>
        </p:nvSpPr>
        <p:spPr>
          <a:xfrm>
            <a:off x="495300" y="1625600"/>
            <a:ext cx="11460572" cy="584775"/>
          </a:xfrm>
          <a:prstGeom prst="rect">
            <a:avLst/>
          </a:prstGeom>
          <a:noFill/>
        </p:spPr>
        <p:txBody>
          <a:bodyPr wrap="square" rtlCol="0">
            <a:spAutoFit/>
          </a:bodyPr>
          <a:lstStyle/>
          <a:p>
            <a:r>
              <a:rPr lang="en-US" sz="1600" dirty="0" smtClean="0"/>
              <a:t>Right Price (RP) 2.0 is available on My Atos-Syntel platform. Below is the screen of RP 2.0 menu under Sitemap highlighted &amp; is common screen in all users login.  </a:t>
            </a:r>
            <a:endParaRPr lang="en-US" sz="1600" dirty="0"/>
          </a:p>
        </p:txBody>
      </p:sp>
      <p:pic>
        <p:nvPicPr>
          <p:cNvPr id="4" name="Picture 3"/>
          <p:cNvPicPr>
            <a:picLocks noChangeAspect="1"/>
          </p:cNvPicPr>
          <p:nvPr/>
        </p:nvPicPr>
        <p:blipFill>
          <a:blip r:embed="rId2"/>
          <a:stretch>
            <a:fillRect/>
          </a:stretch>
        </p:blipFill>
        <p:spPr>
          <a:xfrm>
            <a:off x="609600" y="2374900"/>
            <a:ext cx="7632700" cy="3467100"/>
          </a:xfrm>
          <a:prstGeom prst="rect">
            <a:avLst/>
          </a:prstGeom>
        </p:spPr>
        <p:style>
          <a:lnRef idx="2">
            <a:schemeClr val="dk1"/>
          </a:lnRef>
          <a:fillRef idx="1">
            <a:schemeClr val="lt1"/>
          </a:fillRef>
          <a:effectRef idx="0">
            <a:schemeClr val="dk1"/>
          </a:effectRef>
          <a:fontRef idx="minor">
            <a:schemeClr val="dk1"/>
          </a:fontRef>
        </p:style>
      </p:pic>
      <p:sp>
        <p:nvSpPr>
          <p:cNvPr id="5" name="Rectangle 4"/>
          <p:cNvSpPr/>
          <p:nvPr/>
        </p:nvSpPr>
        <p:spPr>
          <a:xfrm>
            <a:off x="5676900" y="4914900"/>
            <a:ext cx="927100" cy="2159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6146800" y="2667000"/>
            <a:ext cx="2095500" cy="234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1534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546100" y="787400"/>
            <a:ext cx="11409772" cy="1651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Delivery Log In</a:t>
            </a:r>
          </a:p>
        </p:txBody>
      </p:sp>
      <p:sp>
        <p:nvSpPr>
          <p:cNvPr id="2" name="TextBox 1"/>
          <p:cNvSpPr txBox="1"/>
          <p:nvPr/>
        </p:nvSpPr>
        <p:spPr>
          <a:xfrm>
            <a:off x="546100" y="1447800"/>
            <a:ext cx="10820399" cy="1310739"/>
          </a:xfrm>
          <a:prstGeom prst="rect">
            <a:avLst/>
          </a:prstGeom>
          <a:noFill/>
        </p:spPr>
        <p:txBody>
          <a:bodyPr wrap="square" rtlCol="0">
            <a:spAutoFit/>
          </a:bodyPr>
          <a:lstStyle/>
          <a:p>
            <a:r>
              <a:rPr lang="en-US" sz="1600" dirty="0"/>
              <a:t>A link in myAtosSyntel is provided to access Right Price 2.0 portal. This link in turn will redirect the user to Login screen of the portal. User will have to enter valid Atos Syntel credentials to access the Portal. If user logins to Right Price portal by accessing the link in myAtosSyntel, irrespective of the login credentials entered in myAtosSyntel, user will still need to enter the credentials to access Right Price 2.0 portal.</a:t>
            </a:r>
          </a:p>
        </p:txBody>
      </p:sp>
      <p:pic>
        <p:nvPicPr>
          <p:cNvPr id="5" name="Picture 4"/>
          <p:cNvPicPr>
            <a:picLocks noChangeAspect="1"/>
          </p:cNvPicPr>
          <p:nvPr/>
        </p:nvPicPr>
        <p:blipFill>
          <a:blip r:embed="rId2"/>
          <a:stretch>
            <a:fillRect/>
          </a:stretch>
        </p:blipFill>
        <p:spPr>
          <a:xfrm>
            <a:off x="782881" y="3073400"/>
            <a:ext cx="5236918" cy="2514600"/>
          </a:xfrm>
          <a:prstGeom prst="rect">
            <a:avLst/>
          </a:prstGeom>
          <a:ln w="6350">
            <a:solidFill>
              <a:schemeClr val="tx1"/>
            </a:solidFill>
          </a:ln>
        </p:spPr>
      </p:pic>
      <p:cxnSp>
        <p:nvCxnSpPr>
          <p:cNvPr id="6" name="Straight Arrow Connector 5"/>
          <p:cNvCxnSpPr/>
          <p:nvPr/>
        </p:nvCxnSpPr>
        <p:spPr>
          <a:xfrm flipH="1">
            <a:off x="1752600" y="3073400"/>
            <a:ext cx="1524000" cy="584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1930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92227"/>
            <a:ext cx="11570208" cy="614977"/>
          </a:xfrm>
        </p:spPr>
        <p:txBody>
          <a:bodyPr/>
          <a:lstStyle/>
          <a:p>
            <a:r>
              <a:rPr lang="en-US" sz="2800" dirty="0" smtClean="0"/>
              <a:t>Creation of Rate card– Automatic/System</a:t>
            </a:r>
            <a:endParaRPr lang="en-US" sz="2800" dirty="0"/>
          </a:p>
        </p:txBody>
      </p:sp>
      <p:sp>
        <p:nvSpPr>
          <p:cNvPr id="3" name="TextBox 2"/>
          <p:cNvSpPr txBox="1"/>
          <p:nvPr/>
        </p:nvSpPr>
        <p:spPr>
          <a:xfrm>
            <a:off x="385664" y="1536700"/>
            <a:ext cx="11346272" cy="338554"/>
          </a:xfrm>
          <a:prstGeom prst="rect">
            <a:avLst/>
          </a:prstGeom>
          <a:noFill/>
        </p:spPr>
        <p:txBody>
          <a:bodyPr wrap="square" rtlCol="0">
            <a:spAutoFit/>
          </a:bodyPr>
          <a:lstStyle/>
          <a:p>
            <a:r>
              <a:rPr lang="en-US" sz="1600" dirty="0"/>
              <a:t>Following </a:t>
            </a:r>
            <a:r>
              <a:rPr lang="en-US" sz="1600" dirty="0" smtClean="0"/>
              <a:t>screen </a:t>
            </a:r>
            <a:r>
              <a:rPr lang="en-US" sz="1600" dirty="0"/>
              <a:t>appears on User Screen after login </a:t>
            </a:r>
          </a:p>
        </p:txBody>
      </p:sp>
      <p:pic>
        <p:nvPicPr>
          <p:cNvPr id="4" name="Picture 3"/>
          <p:cNvPicPr>
            <a:picLocks noChangeAspect="1"/>
          </p:cNvPicPr>
          <p:nvPr/>
        </p:nvPicPr>
        <p:blipFill>
          <a:blip r:embed="rId2"/>
          <a:stretch>
            <a:fillRect/>
          </a:stretch>
        </p:blipFill>
        <p:spPr>
          <a:xfrm>
            <a:off x="508743" y="2619727"/>
            <a:ext cx="6120657" cy="2628901"/>
          </a:xfrm>
          <a:prstGeom prst="rect">
            <a:avLst/>
          </a:prstGeom>
          <a:ln w="9525">
            <a:solidFill>
              <a:schemeClr val="tx1"/>
            </a:solidFill>
          </a:ln>
        </p:spPr>
      </p:pic>
      <p:sp>
        <p:nvSpPr>
          <p:cNvPr id="5" name="Rectangle 4"/>
          <p:cNvSpPr/>
          <p:nvPr/>
        </p:nvSpPr>
        <p:spPr>
          <a:xfrm>
            <a:off x="2984500" y="3987800"/>
            <a:ext cx="1117600" cy="965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3568700" y="2619727"/>
            <a:ext cx="317500" cy="1749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12420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74699"/>
            <a:ext cx="11570208" cy="6706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card Screen</a:t>
            </a:r>
            <a:endParaRPr lang="en-US" sz="2800" dirty="0"/>
          </a:p>
        </p:txBody>
      </p:sp>
      <p:sp>
        <p:nvSpPr>
          <p:cNvPr id="4" name="TextBox 3"/>
          <p:cNvSpPr txBox="1"/>
          <p:nvPr/>
        </p:nvSpPr>
        <p:spPr>
          <a:xfrm>
            <a:off x="482600" y="1562100"/>
            <a:ext cx="11473272" cy="338554"/>
          </a:xfrm>
          <a:prstGeom prst="rect">
            <a:avLst/>
          </a:prstGeom>
          <a:noFill/>
        </p:spPr>
        <p:txBody>
          <a:bodyPr wrap="square" rtlCol="0">
            <a:spAutoFit/>
          </a:bodyPr>
          <a:lstStyle/>
          <a:p>
            <a:r>
              <a:rPr lang="en-US" sz="1600" dirty="0"/>
              <a:t>Step1: For creation of new RC card User has to click on Rate card as shown in screen below</a:t>
            </a:r>
          </a:p>
        </p:txBody>
      </p:sp>
      <p:pic>
        <p:nvPicPr>
          <p:cNvPr id="2" name="Picture 1"/>
          <p:cNvPicPr>
            <a:picLocks noChangeAspect="1"/>
          </p:cNvPicPr>
          <p:nvPr/>
        </p:nvPicPr>
        <p:blipFill>
          <a:blip r:embed="rId2"/>
          <a:stretch>
            <a:fillRect/>
          </a:stretch>
        </p:blipFill>
        <p:spPr>
          <a:xfrm>
            <a:off x="482600" y="2500300"/>
            <a:ext cx="6181880" cy="2033600"/>
          </a:xfrm>
          <a:prstGeom prst="rect">
            <a:avLst/>
          </a:prstGeom>
          <a:ln w="9525">
            <a:solidFill>
              <a:schemeClr val="tx1"/>
            </a:solidFill>
          </a:ln>
        </p:spPr>
      </p:pic>
      <p:sp>
        <p:nvSpPr>
          <p:cNvPr id="5" name="Rectangle 4"/>
          <p:cNvSpPr/>
          <p:nvPr/>
        </p:nvSpPr>
        <p:spPr>
          <a:xfrm>
            <a:off x="2819400" y="3352800"/>
            <a:ext cx="2082800" cy="1092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3782490" y="2500300"/>
            <a:ext cx="1119710" cy="131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0936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87399"/>
            <a:ext cx="11570208" cy="6452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a:t>
            </a:r>
            <a:r>
              <a:rPr lang="en-US" sz="2800" dirty="0"/>
              <a:t>card </a:t>
            </a:r>
            <a:r>
              <a:rPr lang="en-US" sz="2800" dirty="0" smtClean="0"/>
              <a:t>Creation Page</a:t>
            </a:r>
            <a:endParaRPr lang="en-US" sz="2800" dirty="0"/>
          </a:p>
        </p:txBody>
      </p:sp>
      <p:sp>
        <p:nvSpPr>
          <p:cNvPr id="4" name="TextBox 3"/>
          <p:cNvSpPr txBox="1"/>
          <p:nvPr/>
        </p:nvSpPr>
        <p:spPr>
          <a:xfrm>
            <a:off x="385664" y="1432605"/>
            <a:ext cx="11570208" cy="338554"/>
          </a:xfrm>
          <a:prstGeom prst="rect">
            <a:avLst/>
          </a:prstGeom>
          <a:noFill/>
        </p:spPr>
        <p:txBody>
          <a:bodyPr wrap="square" rtlCol="0">
            <a:spAutoFit/>
          </a:bodyPr>
          <a:lstStyle/>
          <a:p>
            <a:r>
              <a:rPr lang="en-US" sz="1600" dirty="0" smtClean="0"/>
              <a:t>Step2</a:t>
            </a:r>
            <a:r>
              <a:rPr lang="en-US" sz="1600" dirty="0"/>
              <a:t>: Rate card Creation Page appears where User has to fill </a:t>
            </a:r>
            <a:r>
              <a:rPr lang="en-US" sz="1600" dirty="0" smtClean="0"/>
              <a:t>below details</a:t>
            </a:r>
          </a:p>
        </p:txBody>
      </p:sp>
      <p:pic>
        <p:nvPicPr>
          <p:cNvPr id="2" name="Picture 1"/>
          <p:cNvPicPr>
            <a:picLocks noChangeAspect="1"/>
          </p:cNvPicPr>
          <p:nvPr/>
        </p:nvPicPr>
        <p:blipFill>
          <a:blip r:embed="rId2"/>
          <a:stretch>
            <a:fillRect/>
          </a:stretch>
        </p:blipFill>
        <p:spPr>
          <a:xfrm>
            <a:off x="529066" y="1940387"/>
            <a:ext cx="7421134" cy="3850813"/>
          </a:xfrm>
          <a:prstGeom prst="rect">
            <a:avLst/>
          </a:prstGeom>
          <a:ln w="9525">
            <a:solidFill>
              <a:schemeClr val="tx1"/>
            </a:solidFill>
          </a:ln>
        </p:spPr>
      </p:pic>
    </p:spTree>
    <p:extLst>
      <p:ext uri="{BB962C8B-B14F-4D97-AF65-F5344CB8AC3E}">
        <p14:creationId xmlns:p14="http://schemas.microsoft.com/office/powerpoint/2010/main" val="18940286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12799"/>
            <a:ext cx="11570208" cy="6198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a:t>
            </a:r>
            <a:r>
              <a:rPr lang="en-US" sz="2800" dirty="0"/>
              <a:t>card</a:t>
            </a:r>
            <a:r>
              <a:rPr lang="en-US" sz="2800" dirty="0" smtClean="0"/>
              <a:t> Delivery Team details</a:t>
            </a:r>
            <a:endParaRPr lang="en-US" sz="2800" dirty="0"/>
          </a:p>
        </p:txBody>
      </p:sp>
      <p:sp>
        <p:nvSpPr>
          <p:cNvPr id="4" name="TextBox 3"/>
          <p:cNvSpPr txBox="1"/>
          <p:nvPr/>
        </p:nvSpPr>
        <p:spPr>
          <a:xfrm>
            <a:off x="495300" y="1638299"/>
            <a:ext cx="11485971" cy="338554"/>
          </a:xfrm>
          <a:prstGeom prst="rect">
            <a:avLst/>
          </a:prstGeom>
          <a:noFill/>
        </p:spPr>
        <p:txBody>
          <a:bodyPr wrap="square" rtlCol="0">
            <a:spAutoFit/>
          </a:bodyPr>
          <a:lstStyle/>
          <a:p>
            <a:r>
              <a:rPr lang="en-US" sz="1600" dirty="0" smtClean="0"/>
              <a:t>Step3</a:t>
            </a:r>
            <a:r>
              <a:rPr lang="en-US" sz="1600" dirty="0"/>
              <a:t>: User has to update the Delivery team details on below screen</a:t>
            </a:r>
          </a:p>
        </p:txBody>
      </p:sp>
      <p:pic>
        <p:nvPicPr>
          <p:cNvPr id="2" name="Picture 1"/>
          <p:cNvPicPr>
            <a:picLocks noChangeAspect="1"/>
          </p:cNvPicPr>
          <p:nvPr/>
        </p:nvPicPr>
        <p:blipFill>
          <a:blip r:embed="rId2"/>
          <a:stretch>
            <a:fillRect/>
          </a:stretch>
        </p:blipFill>
        <p:spPr>
          <a:xfrm>
            <a:off x="495300" y="2626292"/>
            <a:ext cx="7459233" cy="2225108"/>
          </a:xfrm>
          <a:prstGeom prst="rect">
            <a:avLst/>
          </a:prstGeom>
          <a:ln w="9525">
            <a:solidFill>
              <a:schemeClr val="tx1"/>
            </a:solidFill>
          </a:ln>
        </p:spPr>
      </p:pic>
      <p:cxnSp>
        <p:nvCxnSpPr>
          <p:cNvPr id="6" name="Straight Arrow Connector 5"/>
          <p:cNvCxnSpPr/>
          <p:nvPr/>
        </p:nvCxnSpPr>
        <p:spPr>
          <a:xfrm flipH="1">
            <a:off x="2514600" y="2626292"/>
            <a:ext cx="1333500" cy="904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3848100" y="2626292"/>
            <a:ext cx="2603500" cy="790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710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87400"/>
            <a:ext cx="11570208" cy="53756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Region wise Onsite </a:t>
            </a:r>
            <a:r>
              <a:rPr lang="en-US" sz="2800" dirty="0" smtClean="0"/>
              <a:t>Utilization –Multi Country &amp; Multi City</a:t>
            </a:r>
            <a:endParaRPr lang="en-US" sz="2800" dirty="0"/>
          </a:p>
        </p:txBody>
      </p:sp>
      <p:sp>
        <p:nvSpPr>
          <p:cNvPr id="4" name="TextBox 3"/>
          <p:cNvSpPr txBox="1"/>
          <p:nvPr/>
        </p:nvSpPr>
        <p:spPr>
          <a:xfrm>
            <a:off x="385664" y="1432605"/>
            <a:ext cx="11587572" cy="861774"/>
          </a:xfrm>
          <a:prstGeom prst="rect">
            <a:avLst/>
          </a:prstGeom>
          <a:noFill/>
        </p:spPr>
        <p:txBody>
          <a:bodyPr wrap="square" rtlCol="0">
            <a:spAutoFit/>
          </a:bodyPr>
          <a:lstStyle/>
          <a:p>
            <a:r>
              <a:rPr lang="en-US" sz="1600" dirty="0" smtClean="0"/>
              <a:t>Step4: User </a:t>
            </a:r>
            <a:r>
              <a:rPr lang="en-US" sz="1600" dirty="0"/>
              <a:t>has to update </a:t>
            </a:r>
            <a:r>
              <a:rPr lang="en-US" sz="1600" dirty="0" smtClean="0"/>
              <a:t>Country wise </a:t>
            </a:r>
            <a:r>
              <a:rPr lang="en-US" sz="1600" dirty="0"/>
              <a:t>Onsite </a:t>
            </a:r>
            <a:r>
              <a:rPr lang="en-US" sz="1600" dirty="0" smtClean="0"/>
              <a:t>Utilization &amp; under Manual Rate card tab select  “NO” as highlighted below to generate System Rate card</a:t>
            </a:r>
            <a:endParaRPr lang="en-US" sz="1600" dirty="0"/>
          </a:p>
          <a:p>
            <a:endParaRPr lang="en-US" sz="1800" dirty="0"/>
          </a:p>
        </p:txBody>
      </p:sp>
      <p:sp>
        <p:nvSpPr>
          <p:cNvPr id="10" name="Oval 9"/>
          <p:cNvSpPr/>
          <p:nvPr/>
        </p:nvSpPr>
        <p:spPr>
          <a:xfrm>
            <a:off x="1371599" y="3276600"/>
            <a:ext cx="266700" cy="1905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371599" y="4919221"/>
            <a:ext cx="266700" cy="2159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7670800" y="3266061"/>
            <a:ext cx="444500" cy="279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7581900" y="4919221"/>
            <a:ext cx="444500" cy="3429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2"/>
          <a:stretch>
            <a:fillRect/>
          </a:stretch>
        </p:blipFill>
        <p:spPr>
          <a:xfrm>
            <a:off x="1371599" y="5242767"/>
            <a:ext cx="7505699" cy="849175"/>
          </a:xfrm>
          <a:prstGeom prst="rect">
            <a:avLst/>
          </a:prstGeom>
        </p:spPr>
      </p:pic>
      <p:pic>
        <p:nvPicPr>
          <p:cNvPr id="16" name="Picture 15"/>
          <p:cNvPicPr>
            <a:picLocks noChangeAspect="1"/>
          </p:cNvPicPr>
          <p:nvPr/>
        </p:nvPicPr>
        <p:blipFill>
          <a:blip r:embed="rId3"/>
          <a:stretch>
            <a:fillRect/>
          </a:stretch>
        </p:blipFill>
        <p:spPr>
          <a:xfrm>
            <a:off x="450847" y="2061721"/>
            <a:ext cx="9347201" cy="3200400"/>
          </a:xfrm>
          <a:prstGeom prst="rect">
            <a:avLst/>
          </a:prstGeom>
          <a:solidFill>
            <a:srgbClr val="FF0000"/>
          </a:solidFill>
          <a:ln w="9525">
            <a:solidFill>
              <a:schemeClr val="tx1"/>
            </a:solidFill>
          </a:ln>
        </p:spPr>
      </p:pic>
      <p:sp>
        <p:nvSpPr>
          <p:cNvPr id="18" name="Oval 17"/>
          <p:cNvSpPr/>
          <p:nvPr/>
        </p:nvSpPr>
        <p:spPr>
          <a:xfrm>
            <a:off x="1371599" y="3266061"/>
            <a:ext cx="355601" cy="20103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1371599" y="4919221"/>
            <a:ext cx="266700" cy="171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810252" y="3266061"/>
            <a:ext cx="360516" cy="2550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810252" y="4919221"/>
            <a:ext cx="360516" cy="2159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670800" y="3266061"/>
            <a:ext cx="444500" cy="279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670799" y="4919221"/>
            <a:ext cx="420783" cy="2159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p:cNvCxnSpPr/>
          <p:nvPr/>
        </p:nvCxnSpPr>
        <p:spPr>
          <a:xfrm flipH="1">
            <a:off x="8091582" y="1739900"/>
            <a:ext cx="2373218" cy="15261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8026400" y="1756150"/>
            <a:ext cx="2451100" cy="3163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60559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38200"/>
            <a:ext cx="11570208" cy="369902"/>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Onsite Location </a:t>
            </a:r>
            <a:r>
              <a:rPr lang="en-US" sz="2800" dirty="0"/>
              <a:t>Detail- </a:t>
            </a:r>
            <a:r>
              <a:rPr lang="en-US" sz="2800" dirty="0" smtClean="0"/>
              <a:t>Multi </a:t>
            </a:r>
            <a:r>
              <a:rPr lang="en-US" sz="2800" dirty="0"/>
              <a:t>Country &amp; </a:t>
            </a:r>
            <a:r>
              <a:rPr lang="en-US" sz="2800" dirty="0" smtClean="0"/>
              <a:t>Multi City</a:t>
            </a:r>
            <a:endParaRPr lang="en-US" sz="2800" dirty="0"/>
          </a:p>
          <a:p>
            <a:endParaRPr lang="en-US" sz="2800" dirty="0"/>
          </a:p>
        </p:txBody>
      </p:sp>
      <p:sp>
        <p:nvSpPr>
          <p:cNvPr id="4" name="TextBox 3"/>
          <p:cNvSpPr txBox="1"/>
          <p:nvPr/>
        </p:nvSpPr>
        <p:spPr>
          <a:xfrm>
            <a:off x="385664" y="1432605"/>
            <a:ext cx="11285636" cy="584775"/>
          </a:xfrm>
          <a:prstGeom prst="rect">
            <a:avLst/>
          </a:prstGeom>
          <a:noFill/>
        </p:spPr>
        <p:txBody>
          <a:bodyPr wrap="square" rtlCol="0">
            <a:spAutoFit/>
          </a:bodyPr>
          <a:lstStyle/>
          <a:p>
            <a:r>
              <a:rPr lang="en-US" sz="1600" dirty="0" smtClean="0"/>
              <a:t>Step5</a:t>
            </a:r>
            <a:r>
              <a:rPr lang="en-US" sz="1600" dirty="0"/>
              <a:t>: User has to </a:t>
            </a:r>
            <a:r>
              <a:rPr lang="en-US" sz="1600" dirty="0" smtClean="0"/>
              <a:t>update Onsite Country, Select City &amp; update City Utilization details </a:t>
            </a:r>
            <a:r>
              <a:rPr lang="en-US" sz="1600" dirty="0"/>
              <a:t>&amp; then Click on </a:t>
            </a:r>
            <a:r>
              <a:rPr lang="en-US" sz="1600" dirty="0" smtClean="0"/>
              <a:t>Add</a:t>
            </a:r>
            <a:endParaRPr lang="en-US" sz="1600" dirty="0"/>
          </a:p>
          <a:p>
            <a:endParaRPr lang="en-US" sz="1600" dirty="0"/>
          </a:p>
        </p:txBody>
      </p:sp>
      <p:pic>
        <p:nvPicPr>
          <p:cNvPr id="2" name="Picture 1"/>
          <p:cNvPicPr>
            <a:picLocks noChangeAspect="1"/>
          </p:cNvPicPr>
          <p:nvPr/>
        </p:nvPicPr>
        <p:blipFill>
          <a:blip r:embed="rId2"/>
          <a:stretch>
            <a:fillRect/>
          </a:stretch>
        </p:blipFill>
        <p:spPr>
          <a:xfrm>
            <a:off x="571500" y="2304090"/>
            <a:ext cx="9220200" cy="3467100"/>
          </a:xfrm>
          <a:prstGeom prst="rect">
            <a:avLst/>
          </a:prstGeom>
          <a:ln w="9525">
            <a:solidFill>
              <a:schemeClr val="tx1"/>
            </a:solidFill>
          </a:ln>
        </p:spPr>
      </p:pic>
      <p:cxnSp>
        <p:nvCxnSpPr>
          <p:cNvPr id="9" name="Straight Arrow Connector 8"/>
          <p:cNvCxnSpPr/>
          <p:nvPr/>
        </p:nvCxnSpPr>
        <p:spPr>
          <a:xfrm>
            <a:off x="8369300" y="2304090"/>
            <a:ext cx="863600" cy="502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473200" y="3657600"/>
            <a:ext cx="635000" cy="14097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489200" y="3657600"/>
            <a:ext cx="685800" cy="14097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92700" y="3657600"/>
            <a:ext cx="342900" cy="14097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13612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62000"/>
            <a:ext cx="11570208" cy="365804"/>
          </a:xfrm>
        </p:spPr>
        <p:txBody>
          <a:bodyPr/>
          <a:lstStyle/>
          <a:p>
            <a:r>
              <a:rPr lang="en-US" sz="2800" dirty="0"/>
              <a:t>Onsite Location Detail- </a:t>
            </a:r>
            <a:r>
              <a:rPr lang="en-US" sz="2800" dirty="0" smtClean="0"/>
              <a:t>Multi </a:t>
            </a:r>
            <a:r>
              <a:rPr lang="en-US" sz="2800" dirty="0"/>
              <a:t>Country </a:t>
            </a:r>
            <a:r>
              <a:rPr lang="en-US" sz="2800" dirty="0" smtClean="0"/>
              <a:t>&amp; Multi </a:t>
            </a:r>
            <a:r>
              <a:rPr lang="en-US" sz="2800" dirty="0"/>
              <a:t>City</a:t>
            </a:r>
          </a:p>
          <a:p>
            <a:endParaRPr lang="en-US" dirty="0"/>
          </a:p>
        </p:txBody>
      </p:sp>
      <p:sp>
        <p:nvSpPr>
          <p:cNvPr id="3" name="TextBox 2"/>
          <p:cNvSpPr txBox="1"/>
          <p:nvPr/>
        </p:nvSpPr>
        <p:spPr>
          <a:xfrm>
            <a:off x="635000" y="1600200"/>
            <a:ext cx="10934700" cy="1077218"/>
          </a:xfrm>
          <a:prstGeom prst="rect">
            <a:avLst/>
          </a:prstGeom>
          <a:noFill/>
        </p:spPr>
        <p:txBody>
          <a:bodyPr wrap="square" rtlCol="0">
            <a:spAutoFit/>
          </a:bodyPr>
          <a:lstStyle/>
          <a:p>
            <a:r>
              <a:rPr lang="en-US" sz="1600" dirty="0" smtClean="0"/>
              <a:t>Note: User can also Select Syntel Facility as well as Client Facility within same country for which User has to select two city as shown below &amp; update the City Utilization %.</a:t>
            </a:r>
          </a:p>
          <a:p>
            <a:r>
              <a:rPr lang="en-US" sz="1600" dirty="0" smtClean="0"/>
              <a:t>If Syntel Facility is selected a premium of $5 will be added in Master rates &amp; same has to be added in proposed rates.</a:t>
            </a:r>
            <a:endParaRPr lang="en-US" sz="1600" dirty="0"/>
          </a:p>
        </p:txBody>
      </p:sp>
      <p:pic>
        <p:nvPicPr>
          <p:cNvPr id="4" name="Picture 3"/>
          <p:cNvPicPr>
            <a:picLocks noChangeAspect="1"/>
          </p:cNvPicPr>
          <p:nvPr/>
        </p:nvPicPr>
        <p:blipFill>
          <a:blip r:embed="rId2"/>
          <a:stretch>
            <a:fillRect/>
          </a:stretch>
        </p:blipFill>
        <p:spPr>
          <a:xfrm>
            <a:off x="635716" y="2948019"/>
            <a:ext cx="9315450" cy="2562225"/>
          </a:xfrm>
          <a:prstGeom prst="rect">
            <a:avLst/>
          </a:prstGeom>
          <a:ln w="9525">
            <a:solidFill>
              <a:schemeClr val="tx1"/>
            </a:solidFill>
          </a:ln>
        </p:spPr>
      </p:pic>
      <p:sp>
        <p:nvSpPr>
          <p:cNvPr id="5" name="Oval 4"/>
          <p:cNvSpPr/>
          <p:nvPr/>
        </p:nvSpPr>
        <p:spPr>
          <a:xfrm>
            <a:off x="5969000" y="4635500"/>
            <a:ext cx="508000" cy="203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647950" y="4584700"/>
            <a:ext cx="863600" cy="2540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527300" y="4889500"/>
            <a:ext cx="863600" cy="3429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934200" y="4635500"/>
            <a:ext cx="355600" cy="2032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a:off x="2032000" y="2948019"/>
            <a:ext cx="666750" cy="1952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4" idx="0"/>
          </p:cNvCxnSpPr>
          <p:nvPr/>
        </p:nvCxnSpPr>
        <p:spPr>
          <a:xfrm>
            <a:off x="5293441" y="2948019"/>
            <a:ext cx="1640759" cy="1687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032000" y="2948019"/>
            <a:ext cx="4070350" cy="16970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98018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62000"/>
            <a:ext cx="11570208" cy="365804"/>
          </a:xfrm>
        </p:spPr>
        <p:txBody>
          <a:bodyPr/>
          <a:lstStyle/>
          <a:p>
            <a:r>
              <a:rPr lang="en-US" dirty="0" smtClean="0"/>
              <a:t>Onsite Location </a:t>
            </a:r>
            <a:r>
              <a:rPr lang="en-US" sz="2800" dirty="0" smtClean="0"/>
              <a:t>submission</a:t>
            </a:r>
            <a:endParaRPr lang="en-US" sz="2800" dirty="0"/>
          </a:p>
        </p:txBody>
      </p:sp>
      <p:pic>
        <p:nvPicPr>
          <p:cNvPr id="3" name="Picture 2"/>
          <p:cNvPicPr>
            <a:picLocks noChangeAspect="1"/>
          </p:cNvPicPr>
          <p:nvPr/>
        </p:nvPicPr>
        <p:blipFill>
          <a:blip r:embed="rId2"/>
          <a:stretch>
            <a:fillRect/>
          </a:stretch>
        </p:blipFill>
        <p:spPr>
          <a:xfrm>
            <a:off x="498895" y="2238728"/>
            <a:ext cx="7832305" cy="3184482"/>
          </a:xfrm>
          <a:prstGeom prst="rect">
            <a:avLst/>
          </a:prstGeom>
          <a:ln w="9525">
            <a:solidFill>
              <a:schemeClr val="tx1"/>
            </a:solidFill>
          </a:ln>
        </p:spPr>
      </p:pic>
      <p:sp>
        <p:nvSpPr>
          <p:cNvPr id="4" name="TextBox 3"/>
          <p:cNvSpPr txBox="1"/>
          <p:nvPr/>
        </p:nvSpPr>
        <p:spPr>
          <a:xfrm>
            <a:off x="385665" y="1498600"/>
            <a:ext cx="10891936" cy="338554"/>
          </a:xfrm>
          <a:prstGeom prst="rect">
            <a:avLst/>
          </a:prstGeom>
          <a:noFill/>
        </p:spPr>
        <p:txBody>
          <a:bodyPr wrap="square" rtlCol="0">
            <a:spAutoFit/>
          </a:bodyPr>
          <a:lstStyle/>
          <a:p>
            <a:r>
              <a:rPr lang="en-US" sz="1600" dirty="0" smtClean="0"/>
              <a:t>Step6 : </a:t>
            </a:r>
            <a:r>
              <a:rPr lang="en-US" sz="1600" dirty="0"/>
              <a:t>Once User update </a:t>
            </a:r>
            <a:r>
              <a:rPr lang="en-US" sz="1600" dirty="0" smtClean="0"/>
              <a:t>the Onsite </a:t>
            </a:r>
            <a:r>
              <a:rPr lang="en-US" sz="1600" dirty="0"/>
              <a:t>details &amp; save the data following screen appears</a:t>
            </a:r>
          </a:p>
        </p:txBody>
      </p:sp>
    </p:spTree>
    <p:extLst>
      <p:ext uri="{BB962C8B-B14F-4D97-AF65-F5344CB8AC3E}">
        <p14:creationId xmlns:p14="http://schemas.microsoft.com/office/powerpoint/2010/main" val="37925530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08497"/>
            <a:ext cx="11570208" cy="319307"/>
          </a:xfrm>
        </p:spPr>
        <p:txBody>
          <a:bodyPr/>
          <a:lstStyle/>
          <a:p>
            <a:r>
              <a:rPr lang="en-US" sz="2800" dirty="0" smtClean="0"/>
              <a:t>Role Selection</a:t>
            </a:r>
            <a:endParaRPr lang="en-US" sz="2800" dirty="0"/>
          </a:p>
        </p:txBody>
      </p:sp>
      <p:sp>
        <p:nvSpPr>
          <p:cNvPr id="3" name="Rectangle 2"/>
          <p:cNvSpPr/>
          <p:nvPr/>
        </p:nvSpPr>
        <p:spPr>
          <a:xfrm>
            <a:off x="385664" y="1473201"/>
            <a:ext cx="11209436" cy="584775"/>
          </a:xfrm>
          <a:prstGeom prst="rect">
            <a:avLst/>
          </a:prstGeom>
        </p:spPr>
        <p:txBody>
          <a:bodyPr wrap="square">
            <a:spAutoFit/>
          </a:bodyPr>
          <a:lstStyle/>
          <a:p>
            <a:r>
              <a:rPr lang="en-US" sz="1600" dirty="0" smtClean="0"/>
              <a:t>Step7 : After successful creation of Rate card next </a:t>
            </a:r>
            <a:r>
              <a:rPr lang="en-US" sz="1600" dirty="0"/>
              <a:t>screen appears for Role Selection. User can select roles from either Existing RC or from Master roles as shown in screen below. </a:t>
            </a:r>
          </a:p>
        </p:txBody>
      </p:sp>
      <p:pic>
        <p:nvPicPr>
          <p:cNvPr id="4" name="Picture 3"/>
          <p:cNvPicPr>
            <a:picLocks noChangeAspect="1"/>
          </p:cNvPicPr>
          <p:nvPr/>
        </p:nvPicPr>
        <p:blipFill>
          <a:blip r:embed="rId2"/>
          <a:stretch>
            <a:fillRect/>
          </a:stretch>
        </p:blipFill>
        <p:spPr>
          <a:xfrm>
            <a:off x="385664" y="2464929"/>
            <a:ext cx="8440836" cy="3038475"/>
          </a:xfrm>
          <a:prstGeom prst="rect">
            <a:avLst/>
          </a:prstGeom>
          <a:ln w="9525">
            <a:solidFill>
              <a:schemeClr val="tx1"/>
            </a:solidFill>
          </a:ln>
        </p:spPr>
      </p:pic>
      <p:sp>
        <p:nvSpPr>
          <p:cNvPr id="5" name="Rectangle 4"/>
          <p:cNvSpPr/>
          <p:nvPr/>
        </p:nvSpPr>
        <p:spPr>
          <a:xfrm>
            <a:off x="2514600" y="3898900"/>
            <a:ext cx="4229100" cy="9398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4064000" y="2464929"/>
            <a:ext cx="12700" cy="2157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2336800" y="2464929"/>
            <a:ext cx="889000" cy="1687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73858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25500"/>
            <a:ext cx="11570208" cy="302304"/>
          </a:xfrm>
        </p:spPr>
        <p:txBody>
          <a:bodyPr/>
          <a:lstStyle/>
          <a:p>
            <a:r>
              <a:rPr lang="en-US" sz="2800" dirty="0"/>
              <a:t>Role Selection – Contractor roles</a:t>
            </a:r>
            <a:endParaRPr lang="en-US" sz="2800" dirty="0"/>
          </a:p>
        </p:txBody>
      </p:sp>
      <p:sp>
        <p:nvSpPr>
          <p:cNvPr id="3" name="Rectangle 2"/>
          <p:cNvSpPr/>
          <p:nvPr/>
        </p:nvSpPr>
        <p:spPr>
          <a:xfrm>
            <a:off x="482600" y="1397000"/>
            <a:ext cx="11163300" cy="338554"/>
          </a:xfrm>
          <a:prstGeom prst="rect">
            <a:avLst/>
          </a:prstGeom>
        </p:spPr>
        <p:txBody>
          <a:bodyPr wrap="square">
            <a:spAutoFit/>
          </a:bodyPr>
          <a:lstStyle/>
          <a:p>
            <a:r>
              <a:rPr lang="en-US" sz="1600" dirty="0"/>
              <a:t> Note: User can also Select Contractor as show in below screen &amp; update the roles &amp; skills &amp; click on Save.</a:t>
            </a:r>
            <a:endParaRPr lang="en-US" sz="1600" dirty="0"/>
          </a:p>
        </p:txBody>
      </p:sp>
      <p:pic>
        <p:nvPicPr>
          <p:cNvPr id="7" name="Picture 6"/>
          <p:cNvPicPr>
            <a:picLocks noChangeAspect="1"/>
          </p:cNvPicPr>
          <p:nvPr/>
        </p:nvPicPr>
        <p:blipFill>
          <a:blip r:embed="rId2"/>
          <a:stretch>
            <a:fillRect/>
          </a:stretch>
        </p:blipFill>
        <p:spPr>
          <a:xfrm>
            <a:off x="584247" y="1879600"/>
            <a:ext cx="9575753" cy="3683000"/>
          </a:xfrm>
          <a:prstGeom prst="rect">
            <a:avLst/>
          </a:prstGeom>
          <a:solidFill>
            <a:srgbClr val="FF0000"/>
          </a:solidFill>
          <a:ln w="9525">
            <a:solidFill>
              <a:srgbClr val="FF0000"/>
            </a:solidFill>
          </a:ln>
        </p:spPr>
      </p:pic>
      <p:sp>
        <p:nvSpPr>
          <p:cNvPr id="8" name="Oval 7"/>
          <p:cNvSpPr/>
          <p:nvPr/>
        </p:nvSpPr>
        <p:spPr>
          <a:xfrm>
            <a:off x="2946400" y="2819400"/>
            <a:ext cx="1295400" cy="3810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454400" y="4521200"/>
            <a:ext cx="3835400" cy="5715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9037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00099"/>
            <a:ext cx="11570208" cy="327705"/>
          </a:xfrm>
        </p:spPr>
        <p:txBody>
          <a:bodyPr/>
          <a:lstStyle/>
          <a:p>
            <a:r>
              <a:rPr lang="en-US" sz="2800" dirty="0"/>
              <a:t>Role Selection – Contractor roles</a:t>
            </a:r>
          </a:p>
          <a:p>
            <a:endParaRPr lang="en-US" dirty="0"/>
          </a:p>
        </p:txBody>
      </p:sp>
      <p:sp>
        <p:nvSpPr>
          <p:cNvPr id="3" name="Rectangle 2"/>
          <p:cNvSpPr/>
          <p:nvPr/>
        </p:nvSpPr>
        <p:spPr>
          <a:xfrm>
            <a:off x="385664" y="1460500"/>
            <a:ext cx="11209436" cy="584775"/>
          </a:xfrm>
          <a:prstGeom prst="rect">
            <a:avLst/>
          </a:prstGeom>
        </p:spPr>
        <p:txBody>
          <a:bodyPr wrap="square">
            <a:spAutoFit/>
          </a:bodyPr>
          <a:lstStyle/>
          <a:p>
            <a:r>
              <a:rPr lang="en-US" sz="1600" dirty="0"/>
              <a:t>In the below screen for Contractor user has to fill Bill rate per hour &amp; Cost per hour &amp; Click on Save to arrive the contractor role wise margin</a:t>
            </a:r>
            <a:endParaRPr lang="en-US" sz="1600" dirty="0"/>
          </a:p>
        </p:txBody>
      </p:sp>
      <p:pic>
        <p:nvPicPr>
          <p:cNvPr id="4" name="Picture 3"/>
          <p:cNvPicPr>
            <a:picLocks noChangeAspect="1"/>
          </p:cNvPicPr>
          <p:nvPr/>
        </p:nvPicPr>
        <p:blipFill>
          <a:blip r:embed="rId2"/>
          <a:stretch>
            <a:fillRect/>
          </a:stretch>
        </p:blipFill>
        <p:spPr>
          <a:xfrm>
            <a:off x="385664" y="2478087"/>
            <a:ext cx="9710836" cy="2208213"/>
          </a:xfrm>
          <a:prstGeom prst="rect">
            <a:avLst/>
          </a:prstGeom>
          <a:ln w="9525">
            <a:solidFill>
              <a:schemeClr val="tx1"/>
            </a:solidFill>
          </a:ln>
        </p:spPr>
      </p:pic>
    </p:spTree>
    <p:extLst>
      <p:ext uri="{BB962C8B-B14F-4D97-AF65-F5344CB8AC3E}">
        <p14:creationId xmlns:p14="http://schemas.microsoft.com/office/powerpoint/2010/main" val="1566841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58800" y="854540"/>
            <a:ext cx="11570208" cy="340955"/>
          </a:xfrm>
        </p:spPr>
        <p:txBody>
          <a:bodyPr/>
          <a:lstStyle/>
          <a:p>
            <a:r>
              <a:rPr lang="en-US" sz="2800" dirty="0" smtClean="0"/>
              <a:t>Role Selection submission</a:t>
            </a:r>
            <a:endParaRPr lang="en-US" sz="2800" dirty="0"/>
          </a:p>
        </p:txBody>
      </p:sp>
      <p:sp>
        <p:nvSpPr>
          <p:cNvPr id="3" name="TextBox 2"/>
          <p:cNvSpPr txBox="1"/>
          <p:nvPr/>
        </p:nvSpPr>
        <p:spPr>
          <a:xfrm>
            <a:off x="558800" y="1358900"/>
            <a:ext cx="9918700" cy="584775"/>
          </a:xfrm>
          <a:prstGeom prst="rect">
            <a:avLst/>
          </a:prstGeom>
          <a:noFill/>
        </p:spPr>
        <p:txBody>
          <a:bodyPr wrap="square" rtlCol="0">
            <a:spAutoFit/>
          </a:bodyPr>
          <a:lstStyle/>
          <a:p>
            <a:r>
              <a:rPr lang="en-US" sz="1600" dirty="0" smtClean="0"/>
              <a:t>Step8 : Once </a:t>
            </a:r>
            <a:r>
              <a:rPr lang="en-US" sz="1600" dirty="0"/>
              <a:t>the role selection is done Click on Save button. Following Screen appears " Rate card Roles created Successfully</a:t>
            </a:r>
            <a:r>
              <a:rPr lang="en-US" sz="1600" dirty="0" smtClean="0"/>
              <a:t>"</a:t>
            </a:r>
            <a:endParaRPr lang="en-US" sz="1600" dirty="0"/>
          </a:p>
        </p:txBody>
      </p:sp>
      <p:pic>
        <p:nvPicPr>
          <p:cNvPr id="7" name="Picture 6"/>
          <p:cNvPicPr>
            <a:picLocks noChangeAspect="1"/>
          </p:cNvPicPr>
          <p:nvPr/>
        </p:nvPicPr>
        <p:blipFill>
          <a:blip r:embed="rId2"/>
          <a:stretch>
            <a:fillRect/>
          </a:stretch>
        </p:blipFill>
        <p:spPr>
          <a:xfrm>
            <a:off x="660400" y="2448034"/>
            <a:ext cx="8140700" cy="2593866"/>
          </a:xfrm>
          <a:prstGeom prst="rect">
            <a:avLst/>
          </a:prstGeom>
          <a:ln w="9525">
            <a:solidFill>
              <a:schemeClr val="tx1"/>
            </a:solidFill>
          </a:ln>
        </p:spPr>
      </p:pic>
    </p:spTree>
    <p:extLst>
      <p:ext uri="{BB962C8B-B14F-4D97-AF65-F5344CB8AC3E}">
        <p14:creationId xmlns:p14="http://schemas.microsoft.com/office/powerpoint/2010/main" val="9969820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74699"/>
            <a:ext cx="11570208" cy="353105"/>
          </a:xfrm>
        </p:spPr>
        <p:txBody>
          <a:bodyPr/>
          <a:lstStyle/>
          <a:p>
            <a:r>
              <a:rPr lang="en-US" sz="2800" dirty="0"/>
              <a:t>Role Utilization &amp; </a:t>
            </a:r>
            <a:r>
              <a:rPr lang="en-US" sz="2800" dirty="0" smtClean="0"/>
              <a:t>Rates-Multi Country &amp; Multi City</a:t>
            </a:r>
            <a:endParaRPr lang="en-US" sz="2800" dirty="0"/>
          </a:p>
          <a:p>
            <a:endParaRPr lang="en-US" sz="1600" b="0" dirty="0" smtClean="0"/>
          </a:p>
          <a:p>
            <a:endParaRPr lang="en-US" sz="1600" b="0" dirty="0"/>
          </a:p>
          <a:p>
            <a:r>
              <a:rPr lang="en-US" sz="1800" b="0" dirty="0" smtClean="0"/>
              <a:t>.</a:t>
            </a:r>
            <a:r>
              <a:rPr lang="en-US" sz="1600" b="0" dirty="0" smtClean="0"/>
              <a:t> </a:t>
            </a:r>
            <a:endParaRPr lang="en-US" sz="1600" b="0" dirty="0"/>
          </a:p>
        </p:txBody>
      </p:sp>
      <p:pic>
        <p:nvPicPr>
          <p:cNvPr id="3" name="Picture 2"/>
          <p:cNvPicPr>
            <a:picLocks noChangeAspect="1"/>
          </p:cNvPicPr>
          <p:nvPr/>
        </p:nvPicPr>
        <p:blipFill>
          <a:blip r:embed="rId2"/>
          <a:stretch>
            <a:fillRect/>
          </a:stretch>
        </p:blipFill>
        <p:spPr>
          <a:xfrm>
            <a:off x="512664" y="3005592"/>
            <a:ext cx="9477375" cy="2540000"/>
          </a:xfrm>
          <a:prstGeom prst="rect">
            <a:avLst/>
          </a:prstGeom>
          <a:noFill/>
          <a:ln w="9525">
            <a:solidFill>
              <a:schemeClr val="tx1"/>
            </a:solidFill>
          </a:ln>
        </p:spPr>
      </p:pic>
      <p:sp>
        <p:nvSpPr>
          <p:cNvPr id="8" name="Oval 7"/>
          <p:cNvSpPr/>
          <p:nvPr/>
        </p:nvSpPr>
        <p:spPr>
          <a:xfrm>
            <a:off x="1384300" y="4508500"/>
            <a:ext cx="2908300" cy="4953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159500" y="4508500"/>
            <a:ext cx="31115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385664" y="1458458"/>
            <a:ext cx="11544300" cy="1323439"/>
          </a:xfrm>
          <a:prstGeom prst="rect">
            <a:avLst/>
          </a:prstGeom>
          <a:noFill/>
        </p:spPr>
        <p:txBody>
          <a:bodyPr wrap="square" rtlCol="0">
            <a:spAutoFit/>
          </a:bodyPr>
          <a:lstStyle/>
          <a:p>
            <a:r>
              <a:rPr lang="en-US" sz="1600" dirty="0"/>
              <a:t>Step9: In case of single country and single city the role details table shall be displayed automatically when the screen is loaded. In case of multi country and multicity, user needs to select the Country and City and </a:t>
            </a:r>
            <a:r>
              <a:rPr lang="en-US" sz="1600" dirty="0" smtClean="0"/>
              <a:t>then click </a:t>
            </a:r>
            <a:r>
              <a:rPr lang="en-US" sz="1600" dirty="0"/>
              <a:t>on Search button as shown below. Offshore shall be enabled for only one city. The country for which utilization percentage is higher, and the city for which utilization percentage is higher that shall be considered for offshore</a:t>
            </a:r>
          </a:p>
        </p:txBody>
      </p:sp>
    </p:spTree>
    <p:extLst>
      <p:ext uri="{BB962C8B-B14F-4D97-AF65-F5344CB8AC3E}">
        <p14:creationId xmlns:p14="http://schemas.microsoft.com/office/powerpoint/2010/main" val="32314731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46100" y="800100"/>
            <a:ext cx="11409771" cy="327704"/>
          </a:xfrm>
        </p:spPr>
        <p:txBody>
          <a:bodyPr/>
          <a:lstStyle/>
          <a:p>
            <a:r>
              <a:rPr lang="en-US" sz="2800" dirty="0" smtClean="0"/>
              <a:t>Role Utilization &amp; Rates</a:t>
            </a:r>
            <a:endParaRPr lang="en-US" sz="2800" dirty="0"/>
          </a:p>
        </p:txBody>
      </p:sp>
      <p:pic>
        <p:nvPicPr>
          <p:cNvPr id="3" name="Picture 2"/>
          <p:cNvPicPr>
            <a:picLocks noChangeAspect="1"/>
          </p:cNvPicPr>
          <p:nvPr/>
        </p:nvPicPr>
        <p:blipFill>
          <a:blip r:embed="rId2"/>
          <a:stretch>
            <a:fillRect/>
          </a:stretch>
        </p:blipFill>
        <p:spPr>
          <a:xfrm>
            <a:off x="723900" y="2045275"/>
            <a:ext cx="9578975" cy="583625"/>
          </a:xfrm>
          <a:prstGeom prst="rect">
            <a:avLst/>
          </a:prstGeom>
          <a:ln w="9525">
            <a:solidFill>
              <a:schemeClr val="tx1"/>
            </a:solidFill>
          </a:ln>
        </p:spPr>
      </p:pic>
      <p:sp>
        <p:nvSpPr>
          <p:cNvPr id="4" name="TextBox 3"/>
          <p:cNvSpPr txBox="1"/>
          <p:nvPr/>
        </p:nvSpPr>
        <p:spPr>
          <a:xfrm>
            <a:off x="546100" y="1460500"/>
            <a:ext cx="10922000" cy="584775"/>
          </a:xfrm>
          <a:prstGeom prst="rect">
            <a:avLst/>
          </a:prstGeom>
          <a:noFill/>
        </p:spPr>
        <p:txBody>
          <a:bodyPr wrap="square" rtlCol="0">
            <a:spAutoFit/>
          </a:bodyPr>
          <a:lstStyle/>
          <a:p>
            <a:r>
              <a:rPr lang="en-US" sz="1600" dirty="0" smtClean="0"/>
              <a:t>Step10: User have to select Country &amp; City separately for US &amp; UK as shown in below screen &amp; then </a:t>
            </a:r>
            <a:r>
              <a:rPr lang="en-US" sz="1600" dirty="0"/>
              <a:t>c</a:t>
            </a:r>
            <a:r>
              <a:rPr lang="en-US" sz="1600" dirty="0" smtClean="0"/>
              <a:t>lick on Search.</a:t>
            </a:r>
            <a:endParaRPr lang="en-US" sz="1600" dirty="0"/>
          </a:p>
        </p:txBody>
      </p:sp>
      <p:pic>
        <p:nvPicPr>
          <p:cNvPr id="5" name="Picture 4"/>
          <p:cNvPicPr>
            <a:picLocks noChangeAspect="1"/>
          </p:cNvPicPr>
          <p:nvPr/>
        </p:nvPicPr>
        <p:blipFill>
          <a:blip r:embed="rId3"/>
          <a:stretch>
            <a:fillRect/>
          </a:stretch>
        </p:blipFill>
        <p:spPr>
          <a:xfrm>
            <a:off x="723900" y="3657601"/>
            <a:ext cx="9578974" cy="2260600"/>
          </a:xfrm>
          <a:prstGeom prst="rect">
            <a:avLst/>
          </a:prstGeom>
          <a:ln w="9525">
            <a:solidFill>
              <a:schemeClr val="tx1"/>
            </a:solidFill>
          </a:ln>
        </p:spPr>
      </p:pic>
      <p:pic>
        <p:nvPicPr>
          <p:cNvPr id="6" name="Picture 5"/>
          <p:cNvPicPr>
            <a:picLocks noChangeAspect="1"/>
          </p:cNvPicPr>
          <p:nvPr/>
        </p:nvPicPr>
        <p:blipFill>
          <a:blip r:embed="rId4"/>
          <a:stretch>
            <a:fillRect/>
          </a:stretch>
        </p:blipFill>
        <p:spPr>
          <a:xfrm>
            <a:off x="723901" y="2921001"/>
            <a:ext cx="9578974" cy="546099"/>
          </a:xfrm>
          <a:prstGeom prst="rect">
            <a:avLst/>
          </a:prstGeom>
          <a:ln w="9525">
            <a:solidFill>
              <a:schemeClr val="tx1"/>
            </a:solidFill>
          </a:ln>
        </p:spPr>
      </p:pic>
    </p:spTree>
    <p:extLst>
      <p:ext uri="{BB962C8B-B14F-4D97-AF65-F5344CB8AC3E}">
        <p14:creationId xmlns:p14="http://schemas.microsoft.com/office/powerpoint/2010/main" val="13721221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47564" y="876300"/>
            <a:ext cx="11570208" cy="227350"/>
          </a:xfrm>
        </p:spPr>
        <p:txBody>
          <a:bodyPr/>
          <a:lstStyle/>
          <a:p>
            <a:r>
              <a:rPr lang="en-US" sz="2800" dirty="0" smtClean="0"/>
              <a:t>Role Utilization &amp; Rates</a:t>
            </a:r>
            <a:endParaRPr lang="en-US" sz="2800" dirty="0"/>
          </a:p>
        </p:txBody>
      </p:sp>
      <p:pic>
        <p:nvPicPr>
          <p:cNvPr id="3" name="Picture 2"/>
          <p:cNvPicPr>
            <a:picLocks noChangeAspect="1"/>
          </p:cNvPicPr>
          <p:nvPr/>
        </p:nvPicPr>
        <p:blipFill>
          <a:blip r:embed="rId2"/>
          <a:stretch>
            <a:fillRect/>
          </a:stretch>
        </p:blipFill>
        <p:spPr>
          <a:xfrm>
            <a:off x="423764" y="3046750"/>
            <a:ext cx="9736236" cy="2871449"/>
          </a:xfrm>
          <a:prstGeom prst="rect">
            <a:avLst/>
          </a:prstGeom>
          <a:noFill/>
          <a:ln w="9525">
            <a:solidFill>
              <a:schemeClr val="tx1"/>
            </a:solidFill>
          </a:ln>
        </p:spPr>
      </p:pic>
      <p:sp>
        <p:nvSpPr>
          <p:cNvPr id="4" name="TextBox 3"/>
          <p:cNvSpPr txBox="1"/>
          <p:nvPr/>
        </p:nvSpPr>
        <p:spPr>
          <a:xfrm>
            <a:off x="347565" y="1435100"/>
            <a:ext cx="11570208" cy="707886"/>
          </a:xfrm>
          <a:prstGeom prst="rect">
            <a:avLst/>
          </a:prstGeom>
          <a:noFill/>
        </p:spPr>
        <p:txBody>
          <a:bodyPr wrap="square" rtlCol="0">
            <a:spAutoFit/>
          </a:bodyPr>
          <a:lstStyle/>
          <a:p>
            <a:r>
              <a:rPr lang="en-US" sz="1600" dirty="0" smtClean="0"/>
              <a:t>Step11 : This </a:t>
            </a:r>
            <a:r>
              <a:rPr lang="en-US" sz="1600" dirty="0"/>
              <a:t>screen </a:t>
            </a:r>
            <a:r>
              <a:rPr lang="en-US" sz="1600" dirty="0" smtClean="0"/>
              <a:t>user has </a:t>
            </a:r>
            <a:r>
              <a:rPr lang="en-US" sz="1600" dirty="0"/>
              <a:t>to enter the role utilization and rates against the </a:t>
            </a:r>
            <a:r>
              <a:rPr lang="en-US" sz="1600" dirty="0" smtClean="0"/>
              <a:t>Roles for both the countries with cities separately &amp; then Click on Save </a:t>
            </a:r>
            <a:r>
              <a:rPr lang="en-US" dirty="0"/>
              <a:t>	</a:t>
            </a:r>
          </a:p>
        </p:txBody>
      </p:sp>
      <p:sp>
        <p:nvSpPr>
          <p:cNvPr id="6" name="Rectangle 5"/>
          <p:cNvSpPr/>
          <p:nvPr/>
        </p:nvSpPr>
        <p:spPr>
          <a:xfrm>
            <a:off x="4203700" y="4254500"/>
            <a:ext cx="495300" cy="11176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4203700" y="4089399"/>
            <a:ext cx="495300" cy="11176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5600700" y="4051300"/>
            <a:ext cx="531968" cy="11176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124700" y="4051300"/>
            <a:ext cx="469900" cy="11176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8534400" y="4089399"/>
            <a:ext cx="495300" cy="1079501"/>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3187700" y="4089399"/>
            <a:ext cx="508000" cy="1079501"/>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0312400" y="3200400"/>
            <a:ext cx="1739900" cy="1600438"/>
          </a:xfrm>
          <a:prstGeom prst="rect">
            <a:avLst/>
          </a:prstGeom>
          <a:noFill/>
          <a:ln w="9525">
            <a:solidFill>
              <a:schemeClr val="tx1"/>
            </a:solidFill>
          </a:ln>
        </p:spPr>
        <p:txBody>
          <a:bodyPr wrap="square" rtlCol="0">
            <a:spAutoFit/>
          </a:bodyPr>
          <a:lstStyle/>
          <a:p>
            <a:r>
              <a:rPr lang="en-US" sz="1400" dirty="0" smtClean="0"/>
              <a:t>Update Local/Deputed Utilization</a:t>
            </a:r>
          </a:p>
          <a:p>
            <a:r>
              <a:rPr lang="en-US" sz="1400" dirty="0" smtClean="0"/>
              <a:t>Onsite/Offshore Utilization</a:t>
            </a:r>
          </a:p>
          <a:p>
            <a:r>
              <a:rPr lang="en-US" sz="1400" dirty="0" smtClean="0"/>
              <a:t>Proposed Onsite &amp; Offshore Rates</a:t>
            </a:r>
            <a:endParaRPr lang="en-US" sz="1400" dirty="0"/>
          </a:p>
        </p:txBody>
      </p:sp>
      <p:cxnSp>
        <p:nvCxnSpPr>
          <p:cNvPr id="18" name="Straight Arrow Connector 17"/>
          <p:cNvCxnSpPr/>
          <p:nvPr/>
        </p:nvCxnSpPr>
        <p:spPr>
          <a:xfrm flipH="1">
            <a:off x="3492500" y="3568700"/>
            <a:ext cx="6934200" cy="812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1"/>
          </p:cNvCxnSpPr>
          <p:nvPr/>
        </p:nvCxnSpPr>
        <p:spPr>
          <a:xfrm flipH="1">
            <a:off x="4533900" y="4000619"/>
            <a:ext cx="5778500" cy="672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5930900" y="4597400"/>
            <a:ext cx="4495800" cy="203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34073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50900"/>
            <a:ext cx="11570208" cy="276904"/>
          </a:xfrm>
        </p:spPr>
        <p:txBody>
          <a:bodyPr/>
          <a:lstStyle/>
          <a:p>
            <a:r>
              <a:rPr lang="en-US" sz="2800" dirty="0" smtClean="0"/>
              <a:t>Role Utilization </a:t>
            </a:r>
            <a:r>
              <a:rPr lang="en-US" sz="2800" dirty="0"/>
              <a:t>&amp; </a:t>
            </a:r>
            <a:r>
              <a:rPr lang="en-US" sz="2800" dirty="0" smtClean="0"/>
              <a:t>Rates Submission</a:t>
            </a:r>
            <a:endParaRPr lang="en-US" sz="2800" dirty="0"/>
          </a:p>
        </p:txBody>
      </p:sp>
      <p:sp>
        <p:nvSpPr>
          <p:cNvPr id="3" name="TextBox 2"/>
          <p:cNvSpPr txBox="1"/>
          <p:nvPr/>
        </p:nvSpPr>
        <p:spPr>
          <a:xfrm>
            <a:off x="385664" y="1447800"/>
            <a:ext cx="11311036" cy="584775"/>
          </a:xfrm>
          <a:prstGeom prst="rect">
            <a:avLst/>
          </a:prstGeom>
          <a:noFill/>
        </p:spPr>
        <p:txBody>
          <a:bodyPr wrap="square" rtlCol="0">
            <a:spAutoFit/>
          </a:bodyPr>
          <a:lstStyle/>
          <a:p>
            <a:r>
              <a:rPr lang="en-US" sz="1600" dirty="0" smtClean="0"/>
              <a:t>Step12 : Once </a:t>
            </a:r>
            <a:r>
              <a:rPr lang="en-US" sz="1600" dirty="0"/>
              <a:t>the </a:t>
            </a:r>
            <a:r>
              <a:rPr lang="en-US" sz="1600" dirty="0" smtClean="0"/>
              <a:t>Utilization &amp; Proposed Rates are filled click </a:t>
            </a:r>
            <a:r>
              <a:rPr lang="en-US" sz="1600" dirty="0"/>
              <a:t>on Save button. Following Screen appears " Rate card </a:t>
            </a:r>
            <a:r>
              <a:rPr lang="en-US" sz="1600" dirty="0" smtClean="0"/>
              <a:t>Utilization &amp; Rates submitted Successfully</a:t>
            </a:r>
            <a:r>
              <a:rPr lang="en-US" sz="1600" dirty="0"/>
              <a:t>"</a:t>
            </a:r>
          </a:p>
        </p:txBody>
      </p:sp>
      <p:pic>
        <p:nvPicPr>
          <p:cNvPr id="4" name="Picture 3"/>
          <p:cNvPicPr>
            <a:picLocks noChangeAspect="1"/>
          </p:cNvPicPr>
          <p:nvPr/>
        </p:nvPicPr>
        <p:blipFill>
          <a:blip r:embed="rId2"/>
          <a:stretch>
            <a:fillRect/>
          </a:stretch>
        </p:blipFill>
        <p:spPr>
          <a:xfrm>
            <a:off x="541337" y="2414127"/>
            <a:ext cx="8010525" cy="3086100"/>
          </a:xfrm>
          <a:prstGeom prst="rect">
            <a:avLst/>
          </a:prstGeom>
          <a:ln w="9525">
            <a:solidFill>
              <a:schemeClr val="tx1"/>
            </a:solidFill>
          </a:ln>
        </p:spPr>
      </p:pic>
    </p:spTree>
    <p:extLst>
      <p:ext uri="{BB962C8B-B14F-4D97-AF65-F5344CB8AC3E}">
        <p14:creationId xmlns:p14="http://schemas.microsoft.com/office/powerpoint/2010/main" val="23992379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50900"/>
            <a:ext cx="11570208" cy="340404"/>
          </a:xfrm>
        </p:spPr>
        <p:txBody>
          <a:bodyPr/>
          <a:lstStyle/>
          <a:p>
            <a:r>
              <a:rPr lang="en-US" sz="2800" dirty="0" smtClean="0"/>
              <a:t>Rate Card Summary</a:t>
            </a:r>
            <a:endParaRPr lang="en-US" sz="2800" dirty="0"/>
          </a:p>
        </p:txBody>
      </p:sp>
      <p:sp>
        <p:nvSpPr>
          <p:cNvPr id="4" name="TextBox 3"/>
          <p:cNvSpPr txBox="1"/>
          <p:nvPr/>
        </p:nvSpPr>
        <p:spPr>
          <a:xfrm>
            <a:off x="385664" y="1397000"/>
            <a:ext cx="11399936" cy="584775"/>
          </a:xfrm>
          <a:prstGeom prst="rect">
            <a:avLst/>
          </a:prstGeom>
          <a:noFill/>
        </p:spPr>
        <p:txBody>
          <a:bodyPr wrap="square" rtlCol="0">
            <a:spAutoFit/>
          </a:bodyPr>
          <a:lstStyle/>
          <a:p>
            <a:r>
              <a:rPr lang="en-US" sz="1600" dirty="0" smtClean="0"/>
              <a:t>Step13: Below Summary page appears after successful submission of roles &amp; rates. It shows Country &amp; City wise Margin &amp; consolidated Margin as can be seen in screen below </a:t>
            </a:r>
            <a:endParaRPr lang="en-US" sz="1600" dirty="0"/>
          </a:p>
        </p:txBody>
      </p:sp>
      <p:pic>
        <p:nvPicPr>
          <p:cNvPr id="5" name="Picture 4"/>
          <p:cNvPicPr>
            <a:picLocks noChangeAspect="1"/>
          </p:cNvPicPr>
          <p:nvPr/>
        </p:nvPicPr>
        <p:blipFill>
          <a:blip r:embed="rId2"/>
          <a:stretch>
            <a:fillRect/>
          </a:stretch>
        </p:blipFill>
        <p:spPr>
          <a:xfrm>
            <a:off x="385664" y="2187471"/>
            <a:ext cx="9353550" cy="3768829"/>
          </a:xfrm>
          <a:prstGeom prst="rect">
            <a:avLst/>
          </a:prstGeom>
          <a:noFill/>
          <a:ln w="9525">
            <a:solidFill>
              <a:schemeClr val="tx1"/>
            </a:solidFill>
          </a:ln>
        </p:spPr>
      </p:pic>
      <p:sp>
        <p:nvSpPr>
          <p:cNvPr id="6" name="Oval 5"/>
          <p:cNvSpPr/>
          <p:nvPr/>
        </p:nvSpPr>
        <p:spPr>
          <a:xfrm>
            <a:off x="723900" y="4432300"/>
            <a:ext cx="914400" cy="14605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8128000" y="4724400"/>
            <a:ext cx="596900" cy="1320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931106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74699"/>
            <a:ext cx="11570208" cy="353105"/>
          </a:xfrm>
        </p:spPr>
        <p:txBody>
          <a:bodyPr/>
          <a:lstStyle/>
          <a:p>
            <a:r>
              <a:rPr lang="en-US" sz="2800" dirty="0" smtClean="0"/>
              <a:t>Finalize Rate card</a:t>
            </a:r>
            <a:endParaRPr lang="en-US" sz="2800" dirty="0"/>
          </a:p>
        </p:txBody>
      </p:sp>
      <p:sp>
        <p:nvSpPr>
          <p:cNvPr id="3" name="Rectangle 2"/>
          <p:cNvSpPr/>
          <p:nvPr/>
        </p:nvSpPr>
        <p:spPr>
          <a:xfrm>
            <a:off x="385664" y="1409700"/>
            <a:ext cx="11260236" cy="1354217"/>
          </a:xfrm>
          <a:prstGeom prst="rect">
            <a:avLst/>
          </a:prstGeom>
        </p:spPr>
        <p:txBody>
          <a:bodyPr wrap="square">
            <a:spAutoFit/>
          </a:bodyPr>
          <a:lstStyle/>
          <a:p>
            <a:r>
              <a:rPr lang="en-US" sz="1600" dirty="0" smtClean="0"/>
              <a:t>Step12: </a:t>
            </a:r>
            <a:r>
              <a:rPr lang="en-US" sz="1600" dirty="0"/>
              <a:t>This screen displays the sequential flow of the approver matrix. User needs to click on Send for Approval to initiate the approval </a:t>
            </a:r>
            <a:r>
              <a:rPr lang="en-US" sz="1600" dirty="0" smtClean="0"/>
              <a:t>flow. Based on approval matrix rate card will flow to next level of approval. All rate card has to be approved by BUH &amp; CDO &amp; where Gross GM is less then 35% it has to be approved by CEO</a:t>
            </a:r>
            <a:r>
              <a:rPr lang="en-US" sz="1600" dirty="0"/>
              <a:t>	</a:t>
            </a:r>
          </a:p>
          <a:p>
            <a:endParaRPr lang="en-US" sz="1800" dirty="0"/>
          </a:p>
        </p:txBody>
      </p:sp>
      <p:pic>
        <p:nvPicPr>
          <p:cNvPr id="5" name="Picture 4"/>
          <p:cNvPicPr>
            <a:picLocks noChangeAspect="1"/>
          </p:cNvPicPr>
          <p:nvPr/>
        </p:nvPicPr>
        <p:blipFill>
          <a:blip r:embed="rId2"/>
          <a:stretch>
            <a:fillRect/>
          </a:stretch>
        </p:blipFill>
        <p:spPr>
          <a:xfrm>
            <a:off x="493959" y="2565400"/>
            <a:ext cx="7521230" cy="3313112"/>
          </a:xfrm>
          <a:prstGeom prst="rect">
            <a:avLst/>
          </a:prstGeom>
          <a:ln w="9525">
            <a:solidFill>
              <a:schemeClr val="tx1"/>
            </a:solidFill>
          </a:ln>
        </p:spPr>
      </p:pic>
      <p:sp>
        <p:nvSpPr>
          <p:cNvPr id="4" name="Rectangle 3"/>
          <p:cNvSpPr/>
          <p:nvPr/>
        </p:nvSpPr>
        <p:spPr>
          <a:xfrm>
            <a:off x="1587500" y="4165600"/>
            <a:ext cx="5270500" cy="1181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2437730" y="2565400"/>
            <a:ext cx="5577460" cy="2527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1739230" y="5092700"/>
            <a:ext cx="698500" cy="2286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8366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12800"/>
            <a:ext cx="11570208" cy="315004"/>
          </a:xfrm>
        </p:spPr>
        <p:txBody>
          <a:bodyPr/>
          <a:lstStyle/>
          <a:p>
            <a:r>
              <a:rPr lang="en-US" sz="2800" dirty="0" smtClean="0"/>
              <a:t>Assumptions on Rate card</a:t>
            </a:r>
            <a:endParaRPr lang="en-US" sz="2800" dirty="0"/>
          </a:p>
        </p:txBody>
      </p:sp>
      <p:pic>
        <p:nvPicPr>
          <p:cNvPr id="5" name="Picture 4"/>
          <p:cNvPicPr>
            <a:picLocks noChangeAspect="1"/>
          </p:cNvPicPr>
          <p:nvPr/>
        </p:nvPicPr>
        <p:blipFill>
          <a:blip r:embed="rId2"/>
          <a:stretch>
            <a:fillRect/>
          </a:stretch>
        </p:blipFill>
        <p:spPr>
          <a:xfrm>
            <a:off x="385664" y="1447800"/>
            <a:ext cx="11250017" cy="4521200"/>
          </a:xfrm>
          <a:prstGeom prst="rect">
            <a:avLst/>
          </a:prstGeom>
        </p:spPr>
      </p:pic>
    </p:spTree>
    <p:extLst>
      <p:ext uri="{BB962C8B-B14F-4D97-AF65-F5344CB8AC3E}">
        <p14:creationId xmlns:p14="http://schemas.microsoft.com/office/powerpoint/2010/main" val="4122416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4085426"/>
      </p:ext>
    </p:extLst>
  </p:cSld>
  <p:clrMapOvr>
    <a:masterClrMapping/>
  </p:clrMapOvr>
  <p:timing>
    <p:tnLst>
      <p:par>
        <p:cTn id="1" dur="indefinite" restart="never" nodeType="tmRoot"/>
      </p:par>
    </p:tnLst>
  </p:timing>
</p:sld>
</file>

<file path=ppt/theme/theme1.xml><?xml version="1.0" encoding="utf-8"?>
<a:theme xmlns:a="http://schemas.openxmlformats.org/drawingml/2006/main" name="Atos-Syntel">
  <a:themeElements>
    <a:clrScheme name="Atos-Syntel">
      <a:dk1>
        <a:sysClr val="windowText" lastClr="000000"/>
      </a:dk1>
      <a:lt1>
        <a:sysClr val="window" lastClr="FFFFFF"/>
      </a:lt1>
      <a:dk2>
        <a:srgbClr val="3F9C35"/>
      </a:dk2>
      <a:lt2>
        <a:srgbClr val="808080"/>
      </a:lt2>
      <a:accent1>
        <a:srgbClr val="0066A1"/>
      </a:accent1>
      <a:accent2>
        <a:srgbClr val="FF6319"/>
      </a:accent2>
      <a:accent3>
        <a:srgbClr val="AEA400"/>
      </a:accent3>
      <a:accent4>
        <a:srgbClr val="6639B7"/>
      </a:accent4>
      <a:accent5>
        <a:srgbClr val="A626AA"/>
      </a:accent5>
      <a:accent6>
        <a:srgbClr val="00B2A9"/>
      </a:accent6>
      <a:hlink>
        <a:srgbClr val="000000"/>
      </a:hlink>
      <a:folHlink>
        <a:srgbClr val="0563C1"/>
      </a:folHlink>
    </a:clrScheme>
    <a:fontScheme name="Custom 2">
      <a:majorFont>
        <a:latin typeface="Verdana"/>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Atos Complementary Color Pink">
      <a:srgbClr val="D71F85"/>
    </a:custClr>
    <a:custClr name="Atos Complementary Color Dark Grey">
      <a:srgbClr val="898D8D"/>
    </a:custClr>
    <a:custClr name="Atos Complementary Color Light Blue">
      <a:srgbClr val="00AFD8"/>
    </a:custClr>
    <a:custClr name="Atos Complementary Color Blue">
      <a:srgbClr val="0089C4"/>
    </a:custClr>
  </a:custClrLst>
  <a:extLst>
    <a:ext uri="{05A4C25C-085E-4340-85A3-A5531E510DB2}">
      <thm15:themeFamily xmlns:thm15="http://schemas.microsoft.com/office/thememl/2012/main" name="Atos-Syntel Template - Syntel Size" id="{41A5C85C-DEA7-4B22-BFF0-90960A771E3D}" vid="{D457748D-5332-45EE-A8DA-DB86087FA1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Atos-Syntel Template</Template>
  <TotalTime>897</TotalTime>
  <Words>977</Words>
  <Application>Microsoft Office PowerPoint</Application>
  <PresentationFormat>Widescreen</PresentationFormat>
  <Paragraphs>81</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Lucida Sans Unicode</vt:lpstr>
      <vt:lpstr>Verdana</vt:lpstr>
      <vt:lpstr>Atos-Syntel</vt:lpstr>
      <vt:lpstr>Rate card flow in Right Price 2.0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Pathak, Shailendra</dc:creator>
  <cp:lastModifiedBy>Dhanuka, Vivek</cp:lastModifiedBy>
  <cp:revision>86</cp:revision>
  <dcterms:created xsi:type="dcterms:W3CDTF">2019-02-20T09:40:57Z</dcterms:created>
  <dcterms:modified xsi:type="dcterms:W3CDTF">2019-02-27T12:33:21Z</dcterms:modified>
</cp:coreProperties>
</file>