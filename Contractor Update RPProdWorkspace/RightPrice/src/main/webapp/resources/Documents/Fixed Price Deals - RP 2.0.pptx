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handoutMasterIdLst>
    <p:handoutMasterId r:id="rId30"/>
  </p:handoutMasterIdLst>
  <p:sldIdLst>
    <p:sldId id="257" r:id="rId2"/>
    <p:sldId id="262" r:id="rId3"/>
    <p:sldId id="263" r:id="rId4"/>
    <p:sldId id="264" r:id="rId5"/>
    <p:sldId id="291" r:id="rId6"/>
    <p:sldId id="292" r:id="rId7"/>
    <p:sldId id="265" r:id="rId8"/>
    <p:sldId id="266" r:id="rId9"/>
    <p:sldId id="267" r:id="rId10"/>
    <p:sldId id="293" r:id="rId11"/>
    <p:sldId id="268" r:id="rId12"/>
    <p:sldId id="269" r:id="rId13"/>
    <p:sldId id="270" r:id="rId14"/>
    <p:sldId id="294"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60" r:id="rId28"/>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09" userDrawn="1">
          <p15:clr>
            <a:srgbClr val="A4A3A4"/>
          </p15:clr>
        </p15:guide>
        <p15:guide id="2" pos="7533" userDrawn="1">
          <p15:clr>
            <a:srgbClr val="A4A3A4"/>
          </p15:clr>
        </p15:guide>
        <p15:guide id="3" orient="horz" pos="4032" userDrawn="1">
          <p15:clr>
            <a:srgbClr val="A4A3A4"/>
          </p15:clr>
        </p15:guide>
        <p15:guide id="4" pos="23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showGuides="1">
      <p:cViewPr varScale="1">
        <p:scale>
          <a:sx n="76" d="100"/>
          <a:sy n="76" d="100"/>
        </p:scale>
        <p:origin x="126" y="792"/>
      </p:cViewPr>
      <p:guideLst>
        <p:guide orient="horz" pos="909"/>
        <p:guide pos="7533"/>
        <p:guide orient="horz" pos="4032"/>
        <p:guide pos="239"/>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3" d="100"/>
          <a:sy n="63" d="100"/>
        </p:scale>
        <p:origin x="2838"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3017FB-A3A3-4636-8859-DF1D178384E4}" type="datetimeFigureOut">
              <a:rPr lang="en-GB" smtClean="0"/>
              <a:t>26/02/2019</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50807-FC0B-4E7C-A840-341EC805AA05}" type="slidenum">
              <a:rPr lang="en-GB" smtClean="0"/>
              <a:t>‹#›</a:t>
            </a:fld>
            <a:endParaRPr lang="en-GB" dirty="0"/>
          </a:p>
        </p:txBody>
      </p:sp>
    </p:spTree>
    <p:extLst>
      <p:ext uri="{BB962C8B-B14F-4D97-AF65-F5344CB8AC3E}">
        <p14:creationId xmlns:p14="http://schemas.microsoft.com/office/powerpoint/2010/main" val="20710063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1CCD3B-6E3D-4F61-9797-3CD5424CBDD9}" type="datetimeFigureOut">
              <a:rPr lang="en-US" smtClean="0"/>
              <a:t>2/26/2019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78ADB4-77EF-4DE5-8DDC-EE20BD80688C}" type="slidenum">
              <a:rPr lang="en-US" smtClean="0"/>
              <a:t>‹#›</a:t>
            </a:fld>
            <a:endParaRPr lang="en-US"/>
          </a:p>
        </p:txBody>
      </p:sp>
    </p:spTree>
    <p:extLst>
      <p:ext uri="{BB962C8B-B14F-4D97-AF65-F5344CB8AC3E}">
        <p14:creationId xmlns:p14="http://schemas.microsoft.com/office/powerpoint/2010/main" val="3358265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AAB3C45-CA8C-4F49-82D6-C9852E174F8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390532" y="2950236"/>
            <a:ext cx="11160125" cy="984885"/>
          </a:xfrm>
        </p:spPr>
        <p:txBody>
          <a:bodyPr tIns="0" bIns="0" anchor="ctr">
            <a:spAutoFit/>
          </a:bodyPr>
          <a:lstStyle>
            <a:lvl1pPr algn="l">
              <a:defRPr sz="6400" b="0">
                <a:solidFill>
                  <a:schemeClr val="bg1"/>
                </a:solidFill>
              </a:defRPr>
            </a:lvl1pPr>
          </a:lstStyle>
          <a:p>
            <a:r>
              <a:rPr lang="en-US" dirty="0"/>
              <a:t>Cover Title</a:t>
            </a:r>
          </a:p>
        </p:txBody>
      </p:sp>
      <p:sp>
        <p:nvSpPr>
          <p:cNvPr id="3" name="Subtitle 2"/>
          <p:cNvSpPr>
            <a:spLocks noGrp="1"/>
          </p:cNvSpPr>
          <p:nvPr>
            <p:ph type="subTitle" idx="1" hasCustomPrompt="1"/>
          </p:nvPr>
        </p:nvSpPr>
        <p:spPr>
          <a:xfrm>
            <a:off x="390533" y="5703555"/>
            <a:ext cx="3713601" cy="287259"/>
          </a:xfrm>
        </p:spPr>
        <p:txBody>
          <a:bodyPr wrap="none" anchor="b"/>
          <a:lstStyle>
            <a:lvl1pPr marL="0" indent="0" algn="l">
              <a:buNone/>
              <a:defRPr sz="18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Date</a:t>
            </a:r>
          </a:p>
        </p:txBody>
      </p:sp>
      <p:pic>
        <p:nvPicPr>
          <p:cNvPr id="11" name="Picture 10">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Classification"/>
          <p:cNvSpPr txBox="1">
            <a:spLocks noChangeArrowheads="1"/>
          </p:cNvSpPr>
          <p:nvPr userDrawn="1"/>
        </p:nvSpPr>
        <p:spPr bwMode="auto">
          <a:xfrm>
            <a:off x="5356055" y="6233424"/>
            <a:ext cx="1479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1000" b="0" dirty="0">
                <a:solidFill>
                  <a:schemeClr val="bg1"/>
                </a:solidFill>
                <a:latin typeface="+mn-lt"/>
                <a:ea typeface="Verdana" pitchFamily="34" charset="0"/>
                <a:cs typeface="Verdana" pitchFamily="34" charset="0"/>
              </a:rPr>
              <a:t>© 2018 Syntel, Inc.</a:t>
            </a:r>
          </a:p>
        </p:txBody>
      </p:sp>
      <p:pic>
        <p:nvPicPr>
          <p:cNvPr id="12" name="Pictur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6075" y="6316801"/>
            <a:ext cx="2180299" cy="114767"/>
          </a:xfrm>
          <a:prstGeom prst="rect">
            <a:avLst/>
          </a:prstGeom>
        </p:spPr>
      </p:pic>
    </p:spTree>
    <p:extLst>
      <p:ext uri="{BB962C8B-B14F-4D97-AF65-F5344CB8AC3E}">
        <p14:creationId xmlns:p14="http://schemas.microsoft.com/office/powerpoint/2010/main" val="20617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
        <p:nvSpPr>
          <p:cNvPr id="10" name="Text Placeholder 9"/>
          <p:cNvSpPr>
            <a:spLocks noGrp="1"/>
          </p:cNvSpPr>
          <p:nvPr>
            <p:ph type="body" sz="quarter" idx="11" hasCustomPrompt="1"/>
          </p:nvPr>
        </p:nvSpPr>
        <p:spPr>
          <a:xfrm>
            <a:off x="385665" y="1454400"/>
            <a:ext cx="11570208" cy="4535424"/>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68683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Tree>
    <p:extLst>
      <p:ext uri="{BB962C8B-B14F-4D97-AF65-F5344CB8AC3E}">
        <p14:creationId xmlns:p14="http://schemas.microsoft.com/office/powerpoint/2010/main" val="4174767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WO Toplin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pic>
        <p:nvPicPr>
          <p:cNvPr id="5" name="Picture 4">
            <a:extLst>
              <a:ext uri="{FF2B5EF4-FFF2-40B4-BE49-F238E27FC236}">
                <a16:creationId xmlns:a16="http://schemas.microsoft.com/office/drawing/2014/main" id="{606E602D-FA1B-4AE5-B8F2-F42DAE337B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6" name="Straight Connector 5"/>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7"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3293786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948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gray">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E1C74D-134F-4EB2-9532-ED3805FDC89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TextBox 9"/>
          <p:cNvSpPr txBox="1"/>
          <p:nvPr userDrawn="1"/>
        </p:nvSpPr>
        <p:spPr>
          <a:xfrm>
            <a:off x="395394" y="1218353"/>
            <a:ext cx="5351401" cy="1231106"/>
          </a:xfrm>
          <a:prstGeom prst="rect">
            <a:avLst/>
          </a:prstGeom>
          <a:noFill/>
        </p:spPr>
        <p:txBody>
          <a:bodyPr wrap="none" lIns="0" tIns="0" rIns="0" bIns="0" rtlCol="0">
            <a:spAutoFit/>
          </a:bodyPr>
          <a:lstStyle/>
          <a:p>
            <a:r>
              <a:rPr lang="en-GB" sz="8000" dirty="0">
                <a:solidFill>
                  <a:schemeClr val="bg1"/>
                </a:solidFill>
              </a:rPr>
              <a:t>Thank You</a:t>
            </a:r>
          </a:p>
        </p:txBody>
      </p:sp>
      <p:pic>
        <p:nvPicPr>
          <p:cNvPr id="9" name="Picture 8">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Notifier#1"/>
          <p:cNvSpPr txBox="1">
            <a:spLocks noChangeArrowheads="1"/>
          </p:cNvSpPr>
          <p:nvPr userDrawn="1"/>
        </p:nvSpPr>
        <p:spPr bwMode="auto">
          <a:xfrm>
            <a:off x="397449" y="5859664"/>
            <a:ext cx="6732556" cy="574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900" kern="1200" dirty="0">
                <a:solidFill>
                  <a:schemeClr val="bg1"/>
                </a:solidFill>
                <a:latin typeface="+mn-lt"/>
                <a:ea typeface="Verdana" pitchFamily="34" charset="0"/>
                <a:cs typeface="Verdana" pitchFamily="34" charset="0"/>
              </a:rPr>
              <a:t>Atos, the Atos logo, Atos Codex, Atos Consulting, Atos Syntel, Atos Worldgrid, Bull, Canopy, equensWorldline, Unify, Worldline and Zero Email are registered trademarks of the Atos group. September 2018. © 2018 Atos. Confidential information owned by Atos, to be used by the recipient only. This document, or any part of it, may not be reproduced, copied, circulated and/or distributed nor quoted without prior written approval from Atos.</a:t>
            </a:r>
            <a:endParaRPr lang="en-US" sz="900" dirty="0">
              <a:solidFill>
                <a:schemeClr val="bg1"/>
              </a:solidFill>
              <a:latin typeface="+mn-lt"/>
              <a:ea typeface="Verdana" pitchFamily="34" charset="0"/>
              <a:cs typeface="Verdana" pitchFamily="34" charset="0"/>
            </a:endParaRPr>
          </a:p>
        </p:txBody>
      </p:sp>
    </p:spTree>
    <p:extLst>
      <p:ext uri="{BB962C8B-B14F-4D97-AF65-F5344CB8AC3E}">
        <p14:creationId xmlns:p14="http://schemas.microsoft.com/office/powerpoint/2010/main" val="363703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pic>
        <p:nvPicPr>
          <p:cNvPr id="69" name="Picture 6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5" y="2079122"/>
            <a:ext cx="12222469"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650160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1"/>
        </a:soli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936" y="2046008"/>
            <a:ext cx="12256619" cy="273411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719359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253"/>
            <a:ext cx="12240683" cy="273562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08517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9122"/>
            <a:ext cx="12240683"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3438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5">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0683" cy="2701776"/>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1520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6">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40489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7">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139740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8">
    <p:bg>
      <p:bgPr>
        <a:solidFill>
          <a:schemeClr val="accent1"/>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185321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9">
    <p:bg>
      <p:bgPr>
        <a:solidFill>
          <a:schemeClr val="accent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98839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1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317045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11">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029" y="2080354"/>
            <a:ext cx="12263712" cy="2697292"/>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5991572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12">
    <p:bg>
      <p:bgPr>
        <a:solidFill>
          <a:schemeClr val="accent1"/>
        </a:solidFill>
        <a:effectLst/>
      </p:bgPr>
    </p:bg>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08"/>
            <a:ext cx="12248651" cy="2734113"/>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37197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13">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026"/>
            <a:ext cx="12248651"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62413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14">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63142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15">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8651" cy="2701776"/>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3246901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16">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0906602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7">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79346"/>
            <a:ext cx="12272555" cy="2699309"/>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8931045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18">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026"/>
            <a:ext cx="12272555"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9655939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19">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253"/>
            <a:ext cx="12272555" cy="2735623"/>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2263715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2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67175"/>
            <a:ext cx="12272555" cy="2723651"/>
          </a:xfrm>
          <a:prstGeom prst="rect">
            <a:avLst/>
          </a:prstGeom>
        </p:spPr>
      </p:pic>
      <p:sp>
        <p:nvSpPr>
          <p:cNvPr id="5" name="Text Placeholder 4"/>
          <p:cNvSpPr>
            <a:spLocks noGrp="1"/>
          </p:cNvSpPr>
          <p:nvPr>
            <p:ph type="body" sz="quarter" idx="10"/>
          </p:nvPr>
        </p:nvSpPr>
        <p:spPr>
          <a:xfrm>
            <a:off x="6642099" y="2247901"/>
            <a:ext cx="53255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599150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5665" y="164637"/>
            <a:ext cx="11566985" cy="963168"/>
          </a:xfrm>
          <a:prstGeom prst="rect">
            <a:avLst/>
          </a:prstGeom>
        </p:spPr>
        <p:txBody>
          <a:bodyPr vert="horz" lIns="0" tIns="45720" rIns="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5665" y="1454400"/>
            <a:ext cx="11570208" cy="4535424"/>
          </a:xfrm>
          <a:prstGeom prst="rect">
            <a:avLst/>
          </a:prstGeom>
        </p:spPr>
        <p:txBody>
          <a:bodyPr vert="horz" lIns="0" tIns="0" rIns="0" bIns="0" rtlCol="0">
            <a:no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2" name="Straight Connector 31"/>
          <p:cNvCxnSpPr>
            <a:cxnSpLocks/>
          </p:cNvCxnSpPr>
          <p:nvPr userDrawn="1"/>
        </p:nvCxnSpPr>
        <p:spPr>
          <a:xfrm>
            <a:off x="385666" y="1259909"/>
            <a:ext cx="11813909" cy="0"/>
          </a:xfrm>
          <a:prstGeom prst="line">
            <a:avLst/>
          </a:prstGeom>
          <a:ln w="15875"/>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606E602D-FA1B-4AE5-B8F2-F42DAE337BD8}"/>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34" name="Straight Connector 33"/>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8"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29">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474966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8" r:id="rId4"/>
    <p:sldLayoutId id="2147483690" r:id="rId5"/>
    <p:sldLayoutId id="2147483689"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Lst>
  <p:txStyles>
    <p:titleStyle>
      <a:lvl1pPr algn="l" defTabSz="914377"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365751" indent="-365751" algn="l" defTabSz="914377" rtl="0" eaLnBrk="1" latinLnBrk="0" hangingPunct="1">
        <a:lnSpc>
          <a:spcPct val="100000"/>
        </a:lnSpc>
        <a:spcBef>
          <a:spcPts val="0"/>
        </a:spcBef>
        <a:spcAft>
          <a:spcPts val="400"/>
        </a:spcAft>
        <a:buClr>
          <a:schemeClr val="accent1"/>
        </a:buClr>
        <a:buFont typeface="Lucida Sans Unicode" panose="020B0602030504020204" pitchFamily="34" charset="0"/>
        <a:buChar char="▶"/>
        <a:defRPr sz="1800" kern="1200">
          <a:solidFill>
            <a:schemeClr val="tx1"/>
          </a:solidFill>
          <a:latin typeface="+mn-lt"/>
          <a:ea typeface="+mn-ea"/>
          <a:cs typeface="+mn-cs"/>
        </a:defRPr>
      </a:lvl1pPr>
      <a:lvl2pPr marL="731502"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532" userDrawn="1">
          <p15:clr>
            <a:srgbClr val="F26B43"/>
          </p15:clr>
        </p15:guide>
        <p15:guide id="2" orient="horz" pos="911" userDrawn="1">
          <p15:clr>
            <a:srgbClr val="F26B43"/>
          </p15:clr>
        </p15:guide>
        <p15:guide id="3" orient="horz" pos="3779" userDrawn="1">
          <p15:clr>
            <a:srgbClr val="F26B43"/>
          </p15:clr>
        </p15:guide>
        <p15:guide id="4" pos="23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0532" y="2842802"/>
            <a:ext cx="11160125" cy="615553"/>
          </a:xfrm>
        </p:spPr>
        <p:txBody>
          <a:bodyPr/>
          <a:lstStyle/>
          <a:p>
            <a:r>
              <a:rPr lang="en-GB" sz="4000" dirty="0" smtClean="0"/>
              <a:t>FP Deal flow in Right Price 2.0 Application</a:t>
            </a:r>
            <a:endParaRPr lang="en-GB" sz="4000" dirty="0"/>
          </a:p>
        </p:txBody>
      </p:sp>
      <p:sp>
        <p:nvSpPr>
          <p:cNvPr id="3" name="Subtitle 2"/>
          <p:cNvSpPr>
            <a:spLocks noGrp="1"/>
          </p:cNvSpPr>
          <p:nvPr>
            <p:ph type="subTitle" idx="1"/>
          </p:nvPr>
        </p:nvSpPr>
        <p:spPr/>
        <p:txBody>
          <a:bodyPr/>
          <a:lstStyle/>
          <a:p>
            <a:r>
              <a:rPr lang="en-GB" dirty="0" smtClean="0"/>
              <a:t>20</a:t>
            </a:r>
            <a:r>
              <a:rPr lang="en-GB" baseline="30000" dirty="0" smtClean="0"/>
              <a:t>th</a:t>
            </a:r>
            <a:r>
              <a:rPr lang="en-GB" dirty="0" smtClean="0"/>
              <a:t> February,2019</a:t>
            </a:r>
            <a:endParaRPr lang="en-GB" dirty="0"/>
          </a:p>
        </p:txBody>
      </p:sp>
    </p:spTree>
    <p:extLst>
      <p:ext uri="{BB962C8B-B14F-4D97-AF65-F5344CB8AC3E}">
        <p14:creationId xmlns:p14="http://schemas.microsoft.com/office/powerpoint/2010/main" val="35193222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385664" y="444037"/>
            <a:ext cx="11570208" cy="963168"/>
          </a:xfrm>
        </p:spPr>
        <p:txBody>
          <a:bodyPr/>
          <a:lstStyle/>
          <a:p>
            <a:r>
              <a:rPr lang="en-GB" dirty="0" smtClean="0"/>
              <a:t>Table of Contents</a:t>
            </a:r>
            <a:endParaRPr lang="en-GB" dirty="0"/>
          </a:p>
        </p:txBody>
      </p:sp>
      <p:sp>
        <p:nvSpPr>
          <p:cNvPr id="2" name="Rectangle 1"/>
          <p:cNvSpPr/>
          <p:nvPr/>
        </p:nvSpPr>
        <p:spPr>
          <a:xfrm>
            <a:off x="385664" y="1558598"/>
            <a:ext cx="11570208" cy="3816429"/>
          </a:xfrm>
          <a:prstGeom prst="rect">
            <a:avLst/>
          </a:prstGeom>
        </p:spPr>
        <p:txBody>
          <a:bodyPr wrap="square">
            <a:spAutoFit/>
          </a:bodyPr>
          <a:lstStyle/>
          <a:p>
            <a:endParaRPr lang="en-US" sz="1400" dirty="0">
              <a:solidFill>
                <a:srgbClr val="000000"/>
              </a:solidFill>
              <a:latin typeface="+mj-lt"/>
            </a:endParaRPr>
          </a:p>
          <a:p>
            <a:r>
              <a:rPr lang="en-US" sz="2000" dirty="0">
                <a:latin typeface="+mj-lt"/>
              </a:rPr>
              <a:t>The following are the user categories defined in </a:t>
            </a:r>
            <a:r>
              <a:rPr lang="en-US" sz="2000" dirty="0" smtClean="0">
                <a:latin typeface="+mj-lt"/>
              </a:rPr>
              <a:t>Right Price 2.0 </a:t>
            </a:r>
            <a:r>
              <a:rPr lang="en-US" sz="2000" dirty="0">
                <a:latin typeface="+mj-lt"/>
              </a:rPr>
              <a:t>application based on the workflow from initiation of FP deals to approval by DD, BU Head, COO and/or CEO based on margin threshold</a:t>
            </a:r>
            <a:r>
              <a:rPr lang="en-US" sz="2000" dirty="0" smtClean="0">
                <a:latin typeface="+mj-lt"/>
              </a:rPr>
              <a:t>.</a:t>
            </a:r>
          </a:p>
          <a:p>
            <a:endParaRPr lang="en-US" sz="2000" dirty="0">
              <a:latin typeface="+mj-lt"/>
            </a:endParaRPr>
          </a:p>
          <a:p>
            <a:pPr marL="457200" indent="-457200">
              <a:buFont typeface="+mj-lt"/>
              <a:buAutoNum type="arabicParenR"/>
            </a:pPr>
            <a:r>
              <a:rPr lang="en-US" sz="2000" dirty="0" smtClean="0">
                <a:latin typeface="+mj-lt"/>
              </a:rPr>
              <a:t>Delivery </a:t>
            </a:r>
          </a:p>
          <a:p>
            <a:pPr marL="457200" indent="-457200">
              <a:buFont typeface="+mj-lt"/>
              <a:buAutoNum type="arabicParenR"/>
            </a:pPr>
            <a:r>
              <a:rPr lang="en-US" sz="2000" dirty="0" smtClean="0">
                <a:latin typeface="+mj-lt"/>
              </a:rPr>
              <a:t>Delivery </a:t>
            </a:r>
            <a:r>
              <a:rPr lang="en-US" sz="2000" dirty="0">
                <a:latin typeface="+mj-lt"/>
              </a:rPr>
              <a:t>Director </a:t>
            </a:r>
            <a:endParaRPr lang="en-US" sz="2000" dirty="0" smtClean="0">
              <a:latin typeface="+mj-lt"/>
            </a:endParaRPr>
          </a:p>
          <a:p>
            <a:pPr marL="457200" indent="-457200">
              <a:buFont typeface="+mj-lt"/>
              <a:buAutoNum type="arabicParenR"/>
            </a:pPr>
            <a:r>
              <a:rPr lang="en-US" sz="2000" dirty="0" smtClean="0">
                <a:latin typeface="+mj-lt"/>
              </a:rPr>
              <a:t>Quality Team’s Approval (In case of Development deals)</a:t>
            </a:r>
          </a:p>
          <a:p>
            <a:pPr marL="457200" indent="-457200">
              <a:buFont typeface="+mj-lt"/>
              <a:buAutoNum type="arabicParenR"/>
            </a:pPr>
            <a:r>
              <a:rPr lang="en-US" sz="2000" dirty="0" smtClean="0">
                <a:latin typeface="+mj-lt"/>
              </a:rPr>
              <a:t>GFT </a:t>
            </a:r>
            <a:endParaRPr lang="en-US" sz="2000" dirty="0">
              <a:latin typeface="+mj-lt"/>
            </a:endParaRPr>
          </a:p>
          <a:p>
            <a:r>
              <a:rPr lang="en-US" sz="2000" dirty="0">
                <a:latin typeface="+mj-lt"/>
              </a:rPr>
              <a:t>4</a:t>
            </a:r>
            <a:r>
              <a:rPr lang="en-US" sz="2000" dirty="0" smtClean="0">
                <a:latin typeface="+mj-lt"/>
              </a:rPr>
              <a:t>)  BUH </a:t>
            </a:r>
            <a:endParaRPr lang="en-US" sz="2000" dirty="0">
              <a:latin typeface="+mj-lt"/>
            </a:endParaRPr>
          </a:p>
          <a:p>
            <a:r>
              <a:rPr lang="en-US" sz="2000" dirty="0">
                <a:latin typeface="+mj-lt"/>
              </a:rPr>
              <a:t>5</a:t>
            </a:r>
            <a:r>
              <a:rPr lang="en-US" sz="2000" dirty="0" smtClean="0">
                <a:latin typeface="+mj-lt"/>
              </a:rPr>
              <a:t>)  COO </a:t>
            </a:r>
            <a:endParaRPr lang="en-US" sz="2000" dirty="0">
              <a:latin typeface="+mj-lt"/>
            </a:endParaRPr>
          </a:p>
          <a:p>
            <a:r>
              <a:rPr lang="en-US" sz="2000" dirty="0">
                <a:latin typeface="+mj-lt"/>
              </a:rPr>
              <a:t>6</a:t>
            </a:r>
            <a:r>
              <a:rPr lang="en-US" sz="2000" dirty="0" smtClean="0">
                <a:latin typeface="+mj-lt"/>
              </a:rPr>
              <a:t>)  CEO</a:t>
            </a:r>
            <a:endParaRPr lang="en-US" sz="2000" dirty="0">
              <a:latin typeface="+mj-lt"/>
            </a:endParaRPr>
          </a:p>
        </p:txBody>
      </p:sp>
    </p:spTree>
    <p:extLst>
      <p:ext uri="{BB962C8B-B14F-4D97-AF65-F5344CB8AC3E}">
        <p14:creationId xmlns:p14="http://schemas.microsoft.com/office/powerpoint/2010/main" val="19807481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431337"/>
            <a:ext cx="11570208" cy="963168"/>
          </a:xfrm>
        </p:spPr>
        <p:txBody>
          <a:bodyPr/>
          <a:lstStyle/>
          <a:p>
            <a:r>
              <a:rPr lang="en-US" dirty="0" smtClean="0"/>
              <a:t>Delivery Log In</a:t>
            </a:r>
            <a:endParaRPr lang="en-US" dirty="0"/>
          </a:p>
        </p:txBody>
      </p:sp>
      <p:sp>
        <p:nvSpPr>
          <p:cNvPr id="3" name="TextBox 2"/>
          <p:cNvSpPr txBox="1"/>
          <p:nvPr/>
        </p:nvSpPr>
        <p:spPr>
          <a:xfrm>
            <a:off x="215900" y="1206500"/>
            <a:ext cx="11739972" cy="646331"/>
          </a:xfrm>
          <a:prstGeom prst="rect">
            <a:avLst/>
          </a:prstGeom>
          <a:noFill/>
        </p:spPr>
        <p:txBody>
          <a:bodyPr wrap="square" rtlCol="0">
            <a:spAutoFit/>
          </a:bodyPr>
          <a:lstStyle/>
          <a:p>
            <a:r>
              <a:rPr lang="en-US" sz="1800" dirty="0" smtClean="0"/>
              <a:t>Right Price (RP) 2.0 is available on My Atos-Syntel platform. Below is the screen of RP 2.0 menu under Sitemap highlighted &amp; is common screen in all users login.  </a:t>
            </a:r>
            <a:endParaRPr lang="en-US" sz="1800" dirty="0"/>
          </a:p>
        </p:txBody>
      </p:sp>
      <p:pic>
        <p:nvPicPr>
          <p:cNvPr id="4" name="Picture 3"/>
          <p:cNvPicPr>
            <a:picLocks noChangeAspect="1"/>
          </p:cNvPicPr>
          <p:nvPr/>
        </p:nvPicPr>
        <p:blipFill>
          <a:blip r:embed="rId2"/>
          <a:stretch>
            <a:fillRect/>
          </a:stretch>
        </p:blipFill>
        <p:spPr>
          <a:xfrm>
            <a:off x="2032000" y="1865531"/>
            <a:ext cx="7632700" cy="4268569"/>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2341534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4313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Selection of Deal</a:t>
            </a:r>
            <a:endParaRPr lang="en-US" dirty="0"/>
          </a:p>
        </p:txBody>
      </p:sp>
      <p:sp>
        <p:nvSpPr>
          <p:cNvPr id="2" name="TextBox 1"/>
          <p:cNvSpPr txBox="1"/>
          <p:nvPr/>
        </p:nvSpPr>
        <p:spPr>
          <a:xfrm>
            <a:off x="385664" y="1712005"/>
            <a:ext cx="11570208" cy="3539430"/>
          </a:xfrm>
          <a:prstGeom prst="rect">
            <a:avLst/>
          </a:prstGeom>
          <a:noFill/>
        </p:spPr>
        <p:txBody>
          <a:bodyPr wrap="square" rtlCol="0">
            <a:spAutoFit/>
          </a:bodyPr>
          <a:lstStyle/>
          <a:p>
            <a:r>
              <a:rPr lang="en-US" sz="1600" dirty="0"/>
              <a:t>Delivery person from an Account shall be allowed to create Fixed Price Deals in the Right Price System. The module shall allow user to add/view/update details for Fixed Prices Deals depending on the access of the logged in user. Below 2 types of deals shall be available in case of Fixed Price: </a:t>
            </a:r>
            <a:endParaRPr lang="en-US" sz="1600" dirty="0" smtClean="0"/>
          </a:p>
          <a:p>
            <a:endParaRPr lang="en-US" sz="1600" dirty="0"/>
          </a:p>
          <a:p>
            <a:pPr marL="342900" indent="-342900">
              <a:buAutoNum type="arabicPeriod"/>
            </a:pPr>
            <a:r>
              <a:rPr lang="en-US" sz="1600" dirty="0" smtClean="0"/>
              <a:t>Automatic </a:t>
            </a:r>
          </a:p>
          <a:p>
            <a:pPr marL="342900" indent="-342900">
              <a:buAutoNum type="arabicPeriod"/>
            </a:pPr>
            <a:r>
              <a:rPr lang="en-US" sz="1600" dirty="0" smtClean="0"/>
              <a:t>Manual </a:t>
            </a:r>
          </a:p>
          <a:p>
            <a:endParaRPr lang="en-US" sz="1600" dirty="0"/>
          </a:p>
          <a:p>
            <a:r>
              <a:rPr lang="en-US" sz="1600" dirty="0"/>
              <a:t>User can navigate to the Fixed Price Deals via Right Price Portal -&gt; Deal -&gt; Fixed Price or by clicking on the Deals hyperlink in the Dashboard screen. The Navigational panel shall appear at the extreme right side of the screen, which can be used to navigate to any screen for the selected deal.   </a:t>
            </a:r>
          </a:p>
          <a:p>
            <a:r>
              <a:rPr lang="en-US" sz="1600" dirty="0"/>
              <a:t> </a:t>
            </a:r>
          </a:p>
          <a:p>
            <a:r>
              <a:rPr lang="en-US" sz="1600" dirty="0"/>
              <a:t>Depending upon the option selected on the “FP Deal Creation – Deal Details” screen, Automatic or Manual Fixed Price Deals shall be created. If Manual Deal option selected is No, Automatic Deals shall be created. If “Yes” is selected in the Manual Deal option, Manual Fixed Price Deals shall be created. </a:t>
            </a:r>
          </a:p>
        </p:txBody>
      </p:sp>
    </p:spTree>
    <p:extLst>
      <p:ext uri="{BB962C8B-B14F-4D97-AF65-F5344CB8AC3E}">
        <p14:creationId xmlns:p14="http://schemas.microsoft.com/office/powerpoint/2010/main" val="34471930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444037"/>
            <a:ext cx="11570208" cy="963168"/>
          </a:xfrm>
        </p:spPr>
        <p:txBody>
          <a:bodyPr/>
          <a:lstStyle/>
          <a:p>
            <a:r>
              <a:rPr lang="en-US" dirty="0" smtClean="0"/>
              <a:t>Fixed Price (FP) Deals – Automatic Deals</a:t>
            </a:r>
            <a:endParaRPr lang="en-US" dirty="0"/>
          </a:p>
        </p:txBody>
      </p:sp>
      <p:sp>
        <p:nvSpPr>
          <p:cNvPr id="3" name="TextBox 2"/>
          <p:cNvSpPr txBox="1"/>
          <p:nvPr/>
        </p:nvSpPr>
        <p:spPr>
          <a:xfrm>
            <a:off x="292100" y="1927905"/>
            <a:ext cx="11727272" cy="3416320"/>
          </a:xfrm>
          <a:prstGeom prst="rect">
            <a:avLst/>
          </a:prstGeom>
          <a:noFill/>
        </p:spPr>
        <p:txBody>
          <a:bodyPr wrap="square" rtlCol="0">
            <a:spAutoFit/>
          </a:bodyPr>
          <a:lstStyle/>
          <a:p>
            <a:pPr marL="285750" indent="-285750">
              <a:buFont typeface="Arial" panose="020B0604020202020204" pitchFamily="34" charset="0"/>
              <a:buChar char="•"/>
            </a:pPr>
            <a:r>
              <a:rPr lang="en-US" sz="1800" b="1" u="sng" dirty="0" smtClean="0"/>
              <a:t>Below are the sequential set of screens that shall appear in case of Automatic FP Deals:</a:t>
            </a:r>
          </a:p>
          <a:p>
            <a:endParaRPr lang="en-US" sz="1800" dirty="0"/>
          </a:p>
          <a:p>
            <a:pPr marL="342900" indent="-342900">
              <a:buFont typeface="+mj-lt"/>
              <a:buAutoNum type="arabicPeriod"/>
            </a:pPr>
            <a:r>
              <a:rPr lang="en-US" sz="1800" dirty="0" smtClean="0"/>
              <a:t>FP Deal Creation – Deal Details</a:t>
            </a:r>
          </a:p>
          <a:p>
            <a:pPr marL="342900" indent="-342900">
              <a:buFont typeface="+mj-lt"/>
              <a:buAutoNum type="arabicPeriod"/>
            </a:pPr>
            <a:r>
              <a:rPr lang="en-US" sz="1800" dirty="0" smtClean="0"/>
              <a:t>Tower Details</a:t>
            </a:r>
          </a:p>
          <a:p>
            <a:pPr marL="342900" indent="-342900">
              <a:buFont typeface="+mj-lt"/>
              <a:buAutoNum type="arabicPeriod"/>
            </a:pPr>
            <a:r>
              <a:rPr lang="en-US" sz="1800" dirty="0" smtClean="0"/>
              <a:t>Role Selection</a:t>
            </a:r>
          </a:p>
          <a:p>
            <a:pPr marL="342900" indent="-342900">
              <a:buFont typeface="+mj-lt"/>
              <a:buAutoNum type="arabicPeriod"/>
            </a:pPr>
            <a:r>
              <a:rPr lang="en-US" sz="1800" dirty="0" smtClean="0"/>
              <a:t>Staffing</a:t>
            </a:r>
          </a:p>
          <a:p>
            <a:pPr marL="342900" indent="-342900">
              <a:buFont typeface="+mj-lt"/>
              <a:buAutoNum type="arabicPeriod"/>
            </a:pPr>
            <a:r>
              <a:rPr lang="en-US" sz="1800" dirty="0" smtClean="0"/>
              <a:t>Cost Inputs (Travel/Relocation/SGA)</a:t>
            </a:r>
          </a:p>
          <a:p>
            <a:pPr marL="342900" indent="-342900">
              <a:buFont typeface="+mj-lt"/>
              <a:buAutoNum type="arabicPeriod"/>
            </a:pPr>
            <a:r>
              <a:rPr lang="en-US" sz="1800" dirty="0" smtClean="0"/>
              <a:t>Upload Estimation Related Documents</a:t>
            </a:r>
          </a:p>
          <a:p>
            <a:pPr marL="342900" indent="-342900">
              <a:buFont typeface="+mj-lt"/>
              <a:buAutoNum type="arabicPeriod"/>
            </a:pPr>
            <a:r>
              <a:rPr lang="en-US" sz="1800" dirty="0" smtClean="0"/>
              <a:t>What if Analysis</a:t>
            </a:r>
          </a:p>
          <a:p>
            <a:pPr marL="342900" indent="-342900">
              <a:buFont typeface="+mj-lt"/>
              <a:buAutoNum type="arabicPeriod"/>
            </a:pPr>
            <a:r>
              <a:rPr lang="en-US" sz="1800" dirty="0" smtClean="0"/>
              <a:t>Cost Summary </a:t>
            </a:r>
          </a:p>
          <a:p>
            <a:pPr marL="342900" indent="-342900">
              <a:buFont typeface="+mj-lt"/>
              <a:buAutoNum type="arabicPeriod"/>
            </a:pPr>
            <a:r>
              <a:rPr lang="en-US" sz="1800" dirty="0" smtClean="0"/>
              <a:t>Finalize Deal</a:t>
            </a:r>
          </a:p>
        </p:txBody>
      </p:sp>
    </p:spTree>
    <p:extLst>
      <p:ext uri="{BB962C8B-B14F-4D97-AF65-F5344CB8AC3E}">
        <p14:creationId xmlns:p14="http://schemas.microsoft.com/office/powerpoint/2010/main" val="34812420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8364" y="2844799"/>
            <a:ext cx="11570208" cy="1295399"/>
          </a:xfrm>
        </p:spPr>
        <p:txBody>
          <a:bodyPr/>
          <a:lstStyle/>
          <a:p>
            <a:pPr algn="ctr">
              <a:lnSpc>
                <a:spcPct val="200000"/>
              </a:lnSpc>
            </a:pPr>
            <a:r>
              <a:rPr lang="en-US" dirty="0" smtClean="0"/>
              <a:t>Screen 1: FP Deal Creation Details</a:t>
            </a:r>
            <a:endParaRPr lang="en-US" dirty="0"/>
          </a:p>
        </p:txBody>
      </p:sp>
    </p:spTree>
    <p:extLst>
      <p:ext uri="{BB962C8B-B14F-4D97-AF65-F5344CB8AC3E}">
        <p14:creationId xmlns:p14="http://schemas.microsoft.com/office/powerpoint/2010/main" val="24059024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4821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FP Deal Creation – Details’ Screen (1/3)</a:t>
            </a:r>
            <a:endParaRPr lang="en-US" dirty="0"/>
          </a:p>
        </p:txBody>
      </p:sp>
      <p:sp>
        <p:nvSpPr>
          <p:cNvPr id="4" name="TextBox 3"/>
          <p:cNvSpPr txBox="1"/>
          <p:nvPr/>
        </p:nvSpPr>
        <p:spPr>
          <a:xfrm>
            <a:off x="279400" y="1206500"/>
            <a:ext cx="11676472" cy="646331"/>
          </a:xfrm>
          <a:prstGeom prst="rect">
            <a:avLst/>
          </a:prstGeom>
          <a:noFill/>
        </p:spPr>
        <p:txBody>
          <a:bodyPr wrap="square" rtlCol="0">
            <a:spAutoFit/>
          </a:bodyPr>
          <a:lstStyle/>
          <a:p>
            <a:r>
              <a:rPr lang="en-US" sz="1800" dirty="0" smtClean="0"/>
              <a:t>After </a:t>
            </a:r>
            <a:r>
              <a:rPr lang="en-US" sz="1800" dirty="0"/>
              <a:t>selecting the deal in the previous screen the below screen appears. The fields marked in *(star)requires selection from user for the purpose of Deal Costing</a:t>
            </a:r>
            <a:r>
              <a:rPr lang="en-US" sz="1800" dirty="0" smtClean="0"/>
              <a:t>. </a:t>
            </a:r>
            <a:endParaRPr lang="en-US" sz="1800" dirty="0"/>
          </a:p>
        </p:txBody>
      </p:sp>
      <p:pic>
        <p:nvPicPr>
          <p:cNvPr id="5" name="Picture 4"/>
          <p:cNvPicPr>
            <a:picLocks noChangeAspect="1"/>
          </p:cNvPicPr>
          <p:nvPr/>
        </p:nvPicPr>
        <p:blipFill>
          <a:blip r:embed="rId2"/>
          <a:stretch>
            <a:fillRect/>
          </a:stretch>
        </p:blipFill>
        <p:spPr>
          <a:xfrm>
            <a:off x="2533651" y="1814731"/>
            <a:ext cx="6496050" cy="4330701"/>
          </a:xfrm>
          <a:prstGeom prst="rect">
            <a:avLst/>
          </a:prstGeom>
        </p:spPr>
        <p:style>
          <a:lnRef idx="2">
            <a:schemeClr val="dk1">
              <a:shade val="50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29670936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4694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FP Deal Creation – Details’ Screen (2/3)</a:t>
            </a:r>
            <a:endParaRPr lang="en-US" dirty="0"/>
          </a:p>
        </p:txBody>
      </p:sp>
      <p:sp>
        <p:nvSpPr>
          <p:cNvPr id="4" name="TextBox 3"/>
          <p:cNvSpPr txBox="1"/>
          <p:nvPr/>
        </p:nvSpPr>
        <p:spPr>
          <a:xfrm>
            <a:off x="385664" y="1181100"/>
            <a:ext cx="11570208" cy="584775"/>
          </a:xfrm>
          <a:prstGeom prst="rect">
            <a:avLst/>
          </a:prstGeom>
          <a:noFill/>
        </p:spPr>
        <p:txBody>
          <a:bodyPr wrap="square" rtlCol="0">
            <a:spAutoFit/>
          </a:bodyPr>
          <a:lstStyle/>
          <a:p>
            <a:r>
              <a:rPr lang="en-US" sz="1600" dirty="0" smtClean="0"/>
              <a:t>In RP 2.0 the details which are generally asked from GFT relating to the deals can be provided in the system itself that would help to reduce the TAT. Below is the screenshot of the same for reference:</a:t>
            </a:r>
          </a:p>
        </p:txBody>
      </p:sp>
      <p:pic>
        <p:nvPicPr>
          <p:cNvPr id="5" name="Picture 4"/>
          <p:cNvPicPr>
            <a:picLocks noChangeAspect="1"/>
          </p:cNvPicPr>
          <p:nvPr/>
        </p:nvPicPr>
        <p:blipFill>
          <a:blip r:embed="rId2"/>
          <a:stretch>
            <a:fillRect/>
          </a:stretch>
        </p:blipFill>
        <p:spPr>
          <a:xfrm>
            <a:off x="2679701" y="1752599"/>
            <a:ext cx="6604000" cy="4368801"/>
          </a:xfrm>
          <a:prstGeom prst="rect">
            <a:avLst/>
          </a:prstGeom>
        </p:spPr>
        <p:style>
          <a:lnRef idx="2">
            <a:schemeClr val="dk1">
              <a:shade val="50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18940286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4694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FP Deal Creation – Details’ Screen (3/3)</a:t>
            </a:r>
            <a:endParaRPr lang="en-US" dirty="0"/>
          </a:p>
        </p:txBody>
      </p:sp>
      <p:sp>
        <p:nvSpPr>
          <p:cNvPr id="4" name="TextBox 3"/>
          <p:cNvSpPr txBox="1"/>
          <p:nvPr/>
        </p:nvSpPr>
        <p:spPr>
          <a:xfrm>
            <a:off x="292100" y="1597705"/>
            <a:ext cx="11689172" cy="1200329"/>
          </a:xfrm>
          <a:prstGeom prst="rect">
            <a:avLst/>
          </a:prstGeom>
          <a:noFill/>
        </p:spPr>
        <p:txBody>
          <a:bodyPr wrap="square" rtlCol="0">
            <a:spAutoFit/>
          </a:bodyPr>
          <a:lstStyle/>
          <a:p>
            <a:r>
              <a:rPr lang="en-US" sz="1800" dirty="0" smtClean="0"/>
              <a:t>Multiple versions of a deal can be created for that an user has to select Copy </a:t>
            </a:r>
            <a:r>
              <a:rPr lang="en-US" sz="1800" dirty="0"/>
              <a:t>A</a:t>
            </a:r>
            <a:r>
              <a:rPr lang="en-US" sz="1800" dirty="0" smtClean="0"/>
              <a:t>s </a:t>
            </a:r>
            <a:r>
              <a:rPr lang="en-US" sz="1800" dirty="0"/>
              <a:t>N</a:t>
            </a:r>
            <a:r>
              <a:rPr lang="en-US" sz="1800" dirty="0" smtClean="0"/>
              <a:t>ew Version. New versions can only be created for deals which are in </a:t>
            </a:r>
            <a:r>
              <a:rPr lang="en-US" sz="1800" dirty="0"/>
              <a:t>Draft Status. In case of Copy as New Version, data until Staffing screen shall be copied. The screen shall open in Read Only mode for all other users having valid access other than Delivery. </a:t>
            </a:r>
          </a:p>
        </p:txBody>
      </p:sp>
    </p:spTree>
    <p:extLst>
      <p:ext uri="{BB962C8B-B14F-4D97-AF65-F5344CB8AC3E}">
        <p14:creationId xmlns:p14="http://schemas.microsoft.com/office/powerpoint/2010/main" val="21927710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a:spLocks noGrp="1"/>
          </p:cNvSpPr>
          <p:nvPr>
            <p:ph type="body" sz="quarter" idx="10"/>
          </p:nvPr>
        </p:nvSpPr>
        <p:spPr>
          <a:xfrm>
            <a:off x="398364" y="2844799"/>
            <a:ext cx="11570208" cy="1295399"/>
          </a:xfrm>
        </p:spPr>
        <p:txBody>
          <a:bodyPr/>
          <a:lstStyle/>
          <a:p>
            <a:pPr algn="ctr">
              <a:lnSpc>
                <a:spcPct val="200000"/>
              </a:lnSpc>
            </a:pPr>
            <a:r>
              <a:rPr lang="en-US" dirty="0" smtClean="0"/>
              <a:t>Screen 2:Tower Details</a:t>
            </a:r>
            <a:endParaRPr lang="en-US" dirty="0"/>
          </a:p>
        </p:txBody>
      </p:sp>
    </p:spTree>
    <p:extLst>
      <p:ext uri="{BB962C8B-B14F-4D97-AF65-F5344CB8AC3E}">
        <p14:creationId xmlns:p14="http://schemas.microsoft.com/office/powerpoint/2010/main" val="20060229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4694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FP Deal Creation – Tower Details’ Screen </a:t>
            </a:r>
            <a:endParaRPr lang="en-US" dirty="0"/>
          </a:p>
        </p:txBody>
      </p:sp>
      <p:sp>
        <p:nvSpPr>
          <p:cNvPr id="4" name="TextBox 3"/>
          <p:cNvSpPr txBox="1"/>
          <p:nvPr/>
        </p:nvSpPr>
        <p:spPr>
          <a:xfrm>
            <a:off x="284064" y="1229405"/>
            <a:ext cx="11689172" cy="830997"/>
          </a:xfrm>
          <a:prstGeom prst="rect">
            <a:avLst/>
          </a:prstGeom>
          <a:noFill/>
        </p:spPr>
        <p:txBody>
          <a:bodyPr wrap="square" rtlCol="0">
            <a:spAutoFit/>
          </a:bodyPr>
          <a:lstStyle/>
          <a:p>
            <a:r>
              <a:rPr lang="en-US" sz="1600" dirty="0"/>
              <a:t>This screen </a:t>
            </a:r>
            <a:r>
              <a:rPr lang="en-US" sz="1600" dirty="0" smtClean="0"/>
              <a:t>allows an user </a:t>
            </a:r>
            <a:r>
              <a:rPr lang="en-US" sz="1600" dirty="0"/>
              <a:t>to enter Tower Details corresponding to each country and each city. It allows to select Rate Card for each tower that is created. Rate Cards shall be populated depending on the Customer, Tower Country, Tower City Category, Start Date and End Date of the Deal. </a:t>
            </a:r>
          </a:p>
        </p:txBody>
      </p:sp>
      <p:pic>
        <p:nvPicPr>
          <p:cNvPr id="5" name="Picture 4"/>
          <p:cNvPicPr>
            <a:picLocks noChangeAspect="1"/>
          </p:cNvPicPr>
          <p:nvPr/>
        </p:nvPicPr>
        <p:blipFill>
          <a:blip r:embed="rId2"/>
          <a:stretch>
            <a:fillRect/>
          </a:stretch>
        </p:blipFill>
        <p:spPr>
          <a:xfrm>
            <a:off x="2193830" y="2013035"/>
            <a:ext cx="7407370" cy="4161723"/>
          </a:xfrm>
          <a:prstGeom prst="rect">
            <a:avLst/>
          </a:prstGeom>
        </p:spPr>
        <p:style>
          <a:lnRef idx="2">
            <a:schemeClr val="dk1">
              <a:shade val="50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19360559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type="body" sz="quarter" idx="10"/>
          </p:nvPr>
        </p:nvSpPr>
        <p:spPr>
          <a:xfrm>
            <a:off x="398364" y="2844799"/>
            <a:ext cx="11570208" cy="1295399"/>
          </a:xfrm>
        </p:spPr>
        <p:txBody>
          <a:bodyPr/>
          <a:lstStyle/>
          <a:p>
            <a:pPr algn="ctr">
              <a:lnSpc>
                <a:spcPct val="200000"/>
              </a:lnSpc>
            </a:pPr>
            <a:r>
              <a:rPr lang="en-US" dirty="0" smtClean="0"/>
              <a:t>Screen </a:t>
            </a:r>
            <a:r>
              <a:rPr lang="en-US" dirty="0"/>
              <a:t>3</a:t>
            </a:r>
            <a:r>
              <a:rPr lang="en-US" dirty="0" smtClean="0"/>
              <a:t>:Role Selection</a:t>
            </a:r>
            <a:endParaRPr lang="en-US" dirty="0"/>
          </a:p>
        </p:txBody>
      </p:sp>
    </p:spTree>
    <p:extLst>
      <p:ext uri="{BB962C8B-B14F-4D97-AF65-F5344CB8AC3E}">
        <p14:creationId xmlns:p14="http://schemas.microsoft.com/office/powerpoint/2010/main" val="4713612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4694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FP Deal Creation – Role Selection</a:t>
            </a:r>
            <a:endParaRPr lang="en-US" dirty="0"/>
          </a:p>
        </p:txBody>
      </p:sp>
      <p:sp>
        <p:nvSpPr>
          <p:cNvPr id="4" name="TextBox 3"/>
          <p:cNvSpPr txBox="1"/>
          <p:nvPr/>
        </p:nvSpPr>
        <p:spPr>
          <a:xfrm>
            <a:off x="228600" y="1242105"/>
            <a:ext cx="11823700" cy="584775"/>
          </a:xfrm>
          <a:prstGeom prst="rect">
            <a:avLst/>
          </a:prstGeom>
          <a:noFill/>
        </p:spPr>
        <p:txBody>
          <a:bodyPr wrap="square" rtlCol="0">
            <a:spAutoFit/>
          </a:bodyPr>
          <a:lstStyle/>
          <a:p>
            <a:r>
              <a:rPr lang="en-US" sz="1600" dirty="0"/>
              <a:t>This screen allows </a:t>
            </a:r>
            <a:r>
              <a:rPr lang="en-US" sz="1600" dirty="0" smtClean="0"/>
              <a:t>an User </a:t>
            </a:r>
            <a:r>
              <a:rPr lang="en-US" sz="1600" dirty="0"/>
              <a:t>to select Roles for the Towers that were created. Roles can be selected from the Rate Cards or by entering the key word in the Search Roles textbox. </a:t>
            </a:r>
          </a:p>
        </p:txBody>
      </p:sp>
      <p:pic>
        <p:nvPicPr>
          <p:cNvPr id="5" name="Picture 4"/>
          <p:cNvPicPr>
            <a:picLocks noChangeAspect="1"/>
          </p:cNvPicPr>
          <p:nvPr/>
        </p:nvPicPr>
        <p:blipFill>
          <a:blip r:embed="rId2"/>
          <a:stretch>
            <a:fillRect/>
          </a:stretch>
        </p:blipFill>
        <p:spPr>
          <a:xfrm>
            <a:off x="2779713" y="1826880"/>
            <a:ext cx="6478587" cy="4307221"/>
          </a:xfrm>
          <a:prstGeom prst="rect">
            <a:avLst/>
          </a:prstGeom>
        </p:spPr>
        <p:style>
          <a:lnRef idx="2">
            <a:schemeClr val="dk1">
              <a:shade val="50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37925530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1813605"/>
            <a:ext cx="11823700" cy="830997"/>
          </a:xfrm>
          <a:prstGeom prst="rect">
            <a:avLst/>
          </a:prstGeom>
          <a:noFill/>
        </p:spPr>
        <p:txBody>
          <a:bodyPr wrap="square" rtlCol="0">
            <a:spAutoFit/>
          </a:bodyPr>
          <a:lstStyle/>
          <a:p>
            <a:pPr marL="342900" indent="-342900">
              <a:buFont typeface="+mj-lt"/>
              <a:buAutoNum type="arabicPeriod"/>
            </a:pPr>
            <a:r>
              <a:rPr lang="en-US" sz="1600" dirty="0" smtClean="0"/>
              <a:t>In case of Managed Services or Managed Capacity project an user shall select the Rate Card roles only</a:t>
            </a:r>
          </a:p>
          <a:p>
            <a:pPr marL="342900" indent="-342900">
              <a:buFont typeface="+mj-lt"/>
              <a:buAutoNum type="arabicPeriod"/>
            </a:pPr>
            <a:endParaRPr lang="en-US" sz="1600" dirty="0"/>
          </a:p>
          <a:p>
            <a:pPr marL="342900" indent="-342900">
              <a:buFont typeface="+mj-lt"/>
              <a:buAutoNum type="arabicPeriod"/>
            </a:pPr>
            <a:r>
              <a:rPr lang="en-US" sz="1600" dirty="0" smtClean="0"/>
              <a:t>For contractor roles the user shall enter th</a:t>
            </a:r>
            <a:r>
              <a:rPr lang="en-US" sz="1600" dirty="0" smtClean="0"/>
              <a:t>e key word ‘</a:t>
            </a:r>
            <a:r>
              <a:rPr lang="en-US" sz="1600" b="1" dirty="0" smtClean="0"/>
              <a:t>Contractor’ </a:t>
            </a:r>
            <a:r>
              <a:rPr lang="en-US" sz="1600" dirty="0" smtClean="0"/>
              <a:t>in search roles textbox. </a:t>
            </a:r>
            <a:endParaRPr lang="en-US" sz="1600" dirty="0"/>
          </a:p>
        </p:txBody>
      </p:sp>
      <p:pic>
        <p:nvPicPr>
          <p:cNvPr id="4" name="Picture 3"/>
          <p:cNvPicPr>
            <a:picLocks noChangeAspect="1"/>
          </p:cNvPicPr>
          <p:nvPr/>
        </p:nvPicPr>
        <p:blipFill>
          <a:blip r:embed="rId2"/>
          <a:stretch>
            <a:fillRect/>
          </a:stretch>
        </p:blipFill>
        <p:spPr>
          <a:xfrm>
            <a:off x="576824" y="2930524"/>
            <a:ext cx="11127252" cy="2543175"/>
          </a:xfrm>
          <a:prstGeom prst="rect">
            <a:avLst/>
          </a:prstGeom>
        </p:spPr>
        <p:style>
          <a:lnRef idx="2">
            <a:schemeClr val="dk1">
              <a:shade val="50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11837270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98364" y="2844799"/>
            <a:ext cx="11570208" cy="1295399"/>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pPr>
            <a:r>
              <a:rPr lang="en-US" dirty="0" smtClean="0"/>
              <a:t>Screen 4: Staffing/Efforts</a:t>
            </a:r>
            <a:endParaRPr lang="en-US" dirty="0"/>
          </a:p>
        </p:txBody>
      </p:sp>
    </p:spTree>
    <p:extLst>
      <p:ext uri="{BB962C8B-B14F-4D97-AF65-F5344CB8AC3E}">
        <p14:creationId xmlns:p14="http://schemas.microsoft.com/office/powerpoint/2010/main" val="7973858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4694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FP Deal Creation – Staffing/Efforts</a:t>
            </a:r>
            <a:endParaRPr lang="en-US" dirty="0"/>
          </a:p>
        </p:txBody>
      </p:sp>
      <p:sp>
        <p:nvSpPr>
          <p:cNvPr id="4" name="TextBox 3"/>
          <p:cNvSpPr txBox="1"/>
          <p:nvPr/>
        </p:nvSpPr>
        <p:spPr>
          <a:xfrm>
            <a:off x="114300" y="1204005"/>
            <a:ext cx="11841572" cy="584775"/>
          </a:xfrm>
          <a:prstGeom prst="rect">
            <a:avLst/>
          </a:prstGeom>
          <a:noFill/>
        </p:spPr>
        <p:txBody>
          <a:bodyPr wrap="square" rtlCol="0">
            <a:spAutoFit/>
          </a:bodyPr>
          <a:lstStyle/>
          <a:p>
            <a:r>
              <a:rPr lang="en-US" sz="1600" dirty="0"/>
              <a:t>This screen will allow user to enter Staffing details against a Tower. The staffing details can be entered manually via the Staffing Details section or by uploading the Staffing excel in “Upload Deal Staffing Excel” section. </a:t>
            </a:r>
          </a:p>
        </p:txBody>
      </p:sp>
      <p:pic>
        <p:nvPicPr>
          <p:cNvPr id="5" name="Picture 4"/>
          <p:cNvPicPr>
            <a:picLocks noChangeAspect="1"/>
          </p:cNvPicPr>
          <p:nvPr/>
        </p:nvPicPr>
        <p:blipFill>
          <a:blip r:embed="rId2"/>
          <a:stretch>
            <a:fillRect/>
          </a:stretch>
        </p:blipFill>
        <p:spPr>
          <a:xfrm>
            <a:off x="2438400" y="1714500"/>
            <a:ext cx="7098793" cy="4533900"/>
          </a:xfrm>
          <a:prstGeom prst="rect">
            <a:avLst/>
          </a:prstGeom>
        </p:spPr>
        <p:style>
          <a:lnRef idx="2">
            <a:schemeClr val="dk1">
              <a:shade val="50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9969820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98364" y="2324099"/>
            <a:ext cx="11570208" cy="1295399"/>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pPr>
            <a:r>
              <a:rPr lang="en-US" dirty="0" smtClean="0"/>
              <a:t>Screen 5: Cost Inputs (Travel,Relocation,SGA,Shift Charges)</a:t>
            </a:r>
            <a:endParaRPr lang="en-US" dirty="0"/>
          </a:p>
        </p:txBody>
      </p:sp>
    </p:spTree>
    <p:extLst>
      <p:ext uri="{BB962C8B-B14F-4D97-AF65-F5344CB8AC3E}">
        <p14:creationId xmlns:p14="http://schemas.microsoft.com/office/powerpoint/2010/main" val="18834073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4694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FP Deal Creation – Cost Inputs</a:t>
            </a:r>
            <a:endParaRPr lang="en-US" dirty="0"/>
          </a:p>
        </p:txBody>
      </p:sp>
      <p:sp>
        <p:nvSpPr>
          <p:cNvPr id="4" name="TextBox 3"/>
          <p:cNvSpPr txBox="1"/>
          <p:nvPr/>
        </p:nvSpPr>
        <p:spPr>
          <a:xfrm>
            <a:off x="165100" y="1229405"/>
            <a:ext cx="11912600" cy="584775"/>
          </a:xfrm>
          <a:prstGeom prst="rect">
            <a:avLst/>
          </a:prstGeom>
          <a:noFill/>
        </p:spPr>
        <p:txBody>
          <a:bodyPr wrap="square" rtlCol="0">
            <a:spAutoFit/>
          </a:bodyPr>
          <a:lstStyle/>
          <a:p>
            <a:r>
              <a:rPr lang="en-US" sz="1600" dirty="0"/>
              <a:t>This </a:t>
            </a:r>
            <a:r>
              <a:rPr lang="en-US" sz="1600" dirty="0" smtClean="0"/>
              <a:t>screen allows an user </a:t>
            </a:r>
            <a:r>
              <a:rPr lang="en-US" sz="1600" dirty="0"/>
              <a:t>to enter </a:t>
            </a:r>
            <a:r>
              <a:rPr lang="en-US" sz="1600" dirty="0" smtClean="0"/>
              <a:t>travel, </a:t>
            </a:r>
            <a:r>
              <a:rPr lang="en-US" sz="1600" dirty="0"/>
              <a:t>relocation </a:t>
            </a:r>
            <a:r>
              <a:rPr lang="en-US" sz="1600" dirty="0" smtClean="0"/>
              <a:t>cost, </a:t>
            </a:r>
            <a:r>
              <a:rPr lang="en-US" sz="1600" dirty="0"/>
              <a:t>project specific </a:t>
            </a:r>
            <a:r>
              <a:rPr lang="en-US" sz="1600" dirty="0" smtClean="0"/>
              <a:t>cost, shift charges </a:t>
            </a:r>
            <a:r>
              <a:rPr lang="en-US" sz="1600" dirty="0"/>
              <a:t>for Onsite, Offshore. These details are entered against each Tower</a:t>
            </a:r>
          </a:p>
        </p:txBody>
      </p:sp>
      <p:pic>
        <p:nvPicPr>
          <p:cNvPr id="5" name="Picture 4"/>
          <p:cNvPicPr>
            <a:picLocks noChangeAspect="1"/>
          </p:cNvPicPr>
          <p:nvPr/>
        </p:nvPicPr>
        <p:blipFill>
          <a:blip r:embed="rId2"/>
          <a:stretch>
            <a:fillRect/>
          </a:stretch>
        </p:blipFill>
        <p:spPr>
          <a:xfrm>
            <a:off x="63500" y="1958974"/>
            <a:ext cx="6057900" cy="4082761"/>
          </a:xfrm>
          <a:prstGeom prst="rect">
            <a:avLst/>
          </a:prstGeom>
        </p:spPr>
        <p:style>
          <a:lnRef idx="2">
            <a:schemeClr val="dk1">
              <a:shade val="50000"/>
            </a:schemeClr>
          </a:lnRef>
          <a:fillRef idx="1">
            <a:schemeClr val="dk1"/>
          </a:fillRef>
          <a:effectRef idx="0">
            <a:schemeClr val="dk1"/>
          </a:effectRef>
          <a:fontRef idx="minor">
            <a:schemeClr val="lt1"/>
          </a:fontRef>
        </p:style>
      </p:pic>
      <p:pic>
        <p:nvPicPr>
          <p:cNvPr id="6" name="Picture 5"/>
          <p:cNvPicPr>
            <a:picLocks noChangeAspect="1"/>
          </p:cNvPicPr>
          <p:nvPr/>
        </p:nvPicPr>
        <p:blipFill>
          <a:blip r:embed="rId3"/>
          <a:stretch>
            <a:fillRect/>
          </a:stretch>
        </p:blipFill>
        <p:spPr>
          <a:xfrm>
            <a:off x="6197600" y="1958974"/>
            <a:ext cx="5880100" cy="4082761"/>
          </a:xfrm>
          <a:prstGeom prst="rect">
            <a:avLst/>
          </a:prstGeom>
        </p:spPr>
        <p:style>
          <a:lnRef idx="2">
            <a:schemeClr val="dk1">
              <a:shade val="50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23992379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98364" y="2641599"/>
            <a:ext cx="11570208" cy="1295399"/>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pPr>
            <a:r>
              <a:rPr lang="en-US" dirty="0" smtClean="0"/>
              <a:t>Screen 6: Upload Estimation Related Documents</a:t>
            </a:r>
            <a:endParaRPr lang="en-US" dirty="0"/>
          </a:p>
        </p:txBody>
      </p:sp>
    </p:spTree>
    <p:extLst>
      <p:ext uri="{BB962C8B-B14F-4D97-AF65-F5344CB8AC3E}">
        <p14:creationId xmlns:p14="http://schemas.microsoft.com/office/powerpoint/2010/main" val="5693110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4694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FP Deal Creation – Upload Documents</a:t>
            </a:r>
            <a:endParaRPr lang="en-US" dirty="0"/>
          </a:p>
        </p:txBody>
      </p:sp>
      <p:sp>
        <p:nvSpPr>
          <p:cNvPr id="4" name="TextBox 3"/>
          <p:cNvSpPr txBox="1"/>
          <p:nvPr/>
        </p:nvSpPr>
        <p:spPr>
          <a:xfrm>
            <a:off x="254000" y="1331005"/>
            <a:ext cx="11836400" cy="584775"/>
          </a:xfrm>
          <a:prstGeom prst="rect">
            <a:avLst/>
          </a:prstGeom>
          <a:noFill/>
        </p:spPr>
        <p:txBody>
          <a:bodyPr wrap="square" rtlCol="0">
            <a:spAutoFit/>
          </a:bodyPr>
          <a:lstStyle/>
          <a:p>
            <a:r>
              <a:rPr lang="en-US" sz="1600" dirty="0"/>
              <a:t>This screen shall be visible only for deals whose Project Type is “Development”. This screen will </a:t>
            </a:r>
            <a:r>
              <a:rPr lang="en-US" sz="1600" dirty="0" smtClean="0"/>
              <a:t>allow an </a:t>
            </a:r>
            <a:r>
              <a:rPr lang="en-US" sz="1600" dirty="0"/>
              <a:t>user to upload Proposal Estimation Document, Effort Estimation Sheet, and SOW</a:t>
            </a:r>
          </a:p>
        </p:txBody>
      </p:sp>
      <p:pic>
        <p:nvPicPr>
          <p:cNvPr id="5" name="Picture 4"/>
          <p:cNvPicPr>
            <a:picLocks noChangeAspect="1"/>
          </p:cNvPicPr>
          <p:nvPr/>
        </p:nvPicPr>
        <p:blipFill>
          <a:blip r:embed="rId2"/>
          <a:stretch>
            <a:fillRect/>
          </a:stretch>
        </p:blipFill>
        <p:spPr>
          <a:xfrm>
            <a:off x="1735137" y="1915780"/>
            <a:ext cx="8787744" cy="4205620"/>
          </a:xfrm>
          <a:prstGeom prst="rect">
            <a:avLst/>
          </a:prstGeom>
        </p:spPr>
        <p:style>
          <a:lnRef idx="2">
            <a:schemeClr val="dk1">
              <a:shade val="50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3748366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98364" y="2641599"/>
            <a:ext cx="11570208" cy="1295399"/>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pPr>
            <a:r>
              <a:rPr lang="en-US" dirty="0" smtClean="0"/>
              <a:t>Screen 7: What If Analysis</a:t>
            </a:r>
            <a:endParaRPr lang="en-US" dirty="0"/>
          </a:p>
        </p:txBody>
      </p:sp>
    </p:spTree>
    <p:extLst>
      <p:ext uri="{BB962C8B-B14F-4D97-AF65-F5344CB8AC3E}">
        <p14:creationId xmlns:p14="http://schemas.microsoft.com/office/powerpoint/2010/main" val="4122416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4694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FP Deal Creation – What If Analysis</a:t>
            </a:r>
            <a:endParaRPr lang="en-US" dirty="0"/>
          </a:p>
        </p:txBody>
      </p:sp>
      <p:sp>
        <p:nvSpPr>
          <p:cNvPr id="4" name="TextBox 3"/>
          <p:cNvSpPr txBox="1"/>
          <p:nvPr/>
        </p:nvSpPr>
        <p:spPr>
          <a:xfrm>
            <a:off x="25400" y="1229405"/>
            <a:ext cx="12192000" cy="1077218"/>
          </a:xfrm>
          <a:prstGeom prst="rect">
            <a:avLst/>
          </a:prstGeom>
          <a:noFill/>
        </p:spPr>
        <p:txBody>
          <a:bodyPr wrap="square" rtlCol="0">
            <a:spAutoFit/>
          </a:bodyPr>
          <a:lstStyle/>
          <a:p>
            <a:r>
              <a:rPr lang="en-US" sz="1600" dirty="0"/>
              <a:t>This screen displays the Summary of </a:t>
            </a:r>
            <a:r>
              <a:rPr lang="en-US" sz="1600" dirty="0" smtClean="0"/>
              <a:t>the Deal. This </a:t>
            </a:r>
            <a:r>
              <a:rPr lang="en-US" sz="1600" dirty="0"/>
              <a:t>will allow </a:t>
            </a:r>
            <a:r>
              <a:rPr lang="en-US" sz="1600" dirty="0" smtClean="0"/>
              <a:t>an </a:t>
            </a:r>
            <a:r>
              <a:rPr lang="en-US" sz="1600" dirty="0"/>
              <a:t>user to compute </a:t>
            </a:r>
            <a:r>
              <a:rPr lang="en-US" sz="1600" dirty="0" smtClean="0"/>
              <a:t>the Margin % </a:t>
            </a:r>
            <a:r>
              <a:rPr lang="en-US" sz="1600" dirty="0"/>
              <a:t>as per the Input Type (Gross Margin % or Revenue) selected and the value entered in the corresponding “Enter Value for Final Price” field.  User shall be allowed to proceed beyond What If Analysis, only if Staffing details are entered for all the years of the Deals. If a version needs to be Sent for Approval, Ready to Submit needs to be clicked.</a:t>
            </a:r>
          </a:p>
        </p:txBody>
      </p:sp>
      <p:pic>
        <p:nvPicPr>
          <p:cNvPr id="6" name="Picture 5"/>
          <p:cNvPicPr>
            <a:picLocks noChangeAspect="1"/>
          </p:cNvPicPr>
          <p:nvPr/>
        </p:nvPicPr>
        <p:blipFill>
          <a:blip r:embed="rId2"/>
          <a:stretch>
            <a:fillRect/>
          </a:stretch>
        </p:blipFill>
        <p:spPr>
          <a:xfrm>
            <a:off x="6172201" y="2306623"/>
            <a:ext cx="5969000" cy="3801901"/>
          </a:xfrm>
          <a:prstGeom prst="rect">
            <a:avLst/>
          </a:prstGeom>
        </p:spPr>
        <p:style>
          <a:lnRef idx="2">
            <a:schemeClr val="dk1">
              <a:shade val="50000"/>
            </a:schemeClr>
          </a:lnRef>
          <a:fillRef idx="1">
            <a:schemeClr val="dk1"/>
          </a:fillRef>
          <a:effectRef idx="0">
            <a:schemeClr val="dk1"/>
          </a:effectRef>
          <a:fontRef idx="minor">
            <a:schemeClr val="lt1"/>
          </a:fontRef>
        </p:style>
      </p:pic>
      <p:pic>
        <p:nvPicPr>
          <p:cNvPr id="7" name="Picture 6"/>
          <p:cNvPicPr>
            <a:picLocks noChangeAspect="1"/>
          </p:cNvPicPr>
          <p:nvPr/>
        </p:nvPicPr>
        <p:blipFill>
          <a:blip r:embed="rId3"/>
          <a:stretch>
            <a:fillRect/>
          </a:stretch>
        </p:blipFill>
        <p:spPr>
          <a:xfrm>
            <a:off x="128076" y="2299950"/>
            <a:ext cx="5955224" cy="3808574"/>
          </a:xfrm>
          <a:prstGeom prst="rect">
            <a:avLst/>
          </a:prstGeom>
        </p:spPr>
        <p:style>
          <a:lnRef idx="2">
            <a:schemeClr val="dk1">
              <a:shade val="50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29893758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98364" y="2641599"/>
            <a:ext cx="11570208" cy="1295399"/>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pPr>
            <a:r>
              <a:rPr lang="en-US" dirty="0" smtClean="0"/>
              <a:t>Screen </a:t>
            </a:r>
            <a:r>
              <a:rPr lang="en-US" dirty="0" smtClean="0"/>
              <a:t>8: Cost Summary</a:t>
            </a:r>
            <a:endParaRPr lang="en-US" dirty="0"/>
          </a:p>
        </p:txBody>
      </p:sp>
    </p:spTree>
    <p:extLst>
      <p:ext uri="{BB962C8B-B14F-4D97-AF65-F5344CB8AC3E}">
        <p14:creationId xmlns:p14="http://schemas.microsoft.com/office/powerpoint/2010/main" val="42893037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4000" y="1333500"/>
            <a:ext cx="11785600" cy="338554"/>
          </a:xfrm>
          <a:prstGeom prst="rect">
            <a:avLst/>
          </a:prstGeom>
          <a:noFill/>
        </p:spPr>
        <p:txBody>
          <a:bodyPr wrap="square" rtlCol="0">
            <a:spAutoFit/>
          </a:bodyPr>
          <a:lstStyle/>
          <a:p>
            <a:pPr marL="285750" indent="-285750">
              <a:buFont typeface="Arial" panose="020B0604020202020204" pitchFamily="34" charset="0"/>
              <a:buChar char="•"/>
            </a:pPr>
            <a:r>
              <a:rPr lang="en-US" sz="1600" dirty="0"/>
              <a:t>This screen displays the Year Wise Cost breakup for a Deal. </a:t>
            </a:r>
          </a:p>
        </p:txBody>
      </p:sp>
      <p:sp>
        <p:nvSpPr>
          <p:cNvPr id="5" name="Text Placeholder 1"/>
          <p:cNvSpPr txBox="1">
            <a:spLocks/>
          </p:cNvSpPr>
          <p:nvPr/>
        </p:nvSpPr>
        <p:spPr>
          <a:xfrm>
            <a:off x="385664" y="4694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FP Deal </a:t>
            </a:r>
            <a:r>
              <a:rPr lang="en-US" dirty="0" smtClean="0"/>
              <a:t>Creation – Cost Summary</a:t>
            </a:r>
            <a:endParaRPr lang="en-US" dirty="0"/>
          </a:p>
        </p:txBody>
      </p:sp>
      <p:pic>
        <p:nvPicPr>
          <p:cNvPr id="6" name="Picture 5"/>
          <p:cNvPicPr>
            <a:picLocks noChangeAspect="1"/>
          </p:cNvPicPr>
          <p:nvPr/>
        </p:nvPicPr>
        <p:blipFill>
          <a:blip r:embed="rId2"/>
          <a:stretch>
            <a:fillRect/>
          </a:stretch>
        </p:blipFill>
        <p:spPr>
          <a:xfrm>
            <a:off x="2581275" y="1672054"/>
            <a:ext cx="6537325" cy="4467781"/>
          </a:xfrm>
          <a:prstGeom prst="rect">
            <a:avLst/>
          </a:prstGeom>
        </p:spPr>
        <p:style>
          <a:lnRef idx="2">
            <a:schemeClr val="dk1">
              <a:shade val="50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28044623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98364" y="2641599"/>
            <a:ext cx="11570208" cy="1295399"/>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pPr>
            <a:r>
              <a:rPr lang="en-US" dirty="0" smtClean="0"/>
              <a:t>Screen </a:t>
            </a:r>
            <a:r>
              <a:rPr lang="en-US" dirty="0"/>
              <a:t>9</a:t>
            </a:r>
            <a:r>
              <a:rPr lang="en-US" dirty="0" smtClean="0"/>
              <a:t>: Finalize Deal</a:t>
            </a:r>
            <a:endParaRPr lang="en-US" dirty="0"/>
          </a:p>
        </p:txBody>
      </p:sp>
    </p:spTree>
    <p:extLst>
      <p:ext uri="{BB962C8B-B14F-4D97-AF65-F5344CB8AC3E}">
        <p14:creationId xmlns:p14="http://schemas.microsoft.com/office/powerpoint/2010/main" val="14987187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469437"/>
            <a:ext cx="11570208" cy="963168"/>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FP Deal </a:t>
            </a:r>
            <a:r>
              <a:rPr lang="en-US" dirty="0" smtClean="0"/>
              <a:t>Creation – Finalize Deal</a:t>
            </a:r>
            <a:endParaRPr lang="en-US" dirty="0"/>
          </a:p>
        </p:txBody>
      </p:sp>
      <p:sp>
        <p:nvSpPr>
          <p:cNvPr id="4" name="TextBox 3"/>
          <p:cNvSpPr txBox="1"/>
          <p:nvPr/>
        </p:nvSpPr>
        <p:spPr>
          <a:xfrm>
            <a:off x="279400" y="1432605"/>
            <a:ext cx="11676472" cy="2554545"/>
          </a:xfrm>
          <a:prstGeom prst="rect">
            <a:avLst/>
          </a:prstGeom>
          <a:noFill/>
        </p:spPr>
        <p:txBody>
          <a:bodyPr wrap="square" rtlCol="0">
            <a:spAutoFit/>
          </a:bodyPr>
          <a:lstStyle/>
          <a:p>
            <a:pPr marL="342900" indent="-342900">
              <a:buFont typeface="Arial" panose="020B0604020202020204" pitchFamily="34" charset="0"/>
              <a:buChar char="•"/>
            </a:pPr>
            <a:r>
              <a:rPr lang="en-US" sz="1600" dirty="0"/>
              <a:t>This screen displays the sequential flow of the approver matrix. If the Deal is New/Renewal, then only one version can be selected and be sent for approval. Once the version is sent for approval, the remaining versions shall be deactivated and will not be available in the system to view. (Fig: FP Deal Creation – Finalize Deal (New/Renewal</a:t>
            </a:r>
            <a:r>
              <a:rPr lang="en-US" sz="1600" dirty="0" smtClean="0"/>
              <a:t>) </a:t>
            </a:r>
          </a:p>
          <a:p>
            <a:endParaRPr lang="en-US" sz="1600" dirty="0" smtClean="0"/>
          </a:p>
          <a:p>
            <a:pPr marL="342900" indent="-342900">
              <a:buFont typeface="Arial" panose="020B0604020202020204" pitchFamily="34" charset="0"/>
              <a:buChar char="•"/>
            </a:pPr>
            <a:r>
              <a:rPr lang="en-US" sz="1600" dirty="0" smtClean="0"/>
              <a:t>In </a:t>
            </a:r>
            <a:r>
              <a:rPr lang="en-US" sz="1600" dirty="0"/>
              <a:t>case of “RFP/RFI”, multiple versions can be selected and be sent for approval. Once the versions are selected and sent for approval, the remaining versions shall be deactivated and will not be available in the system to view. Out of the selected versions that are sent for approval, once all are approved on the Finalize Deal screen only one version can be selected for final approval. This version shall be considered as Finalized version for the Deal. (Fig: FP Deal Creation – Finalize Deal (RFP/RFI)) </a:t>
            </a:r>
          </a:p>
        </p:txBody>
      </p:sp>
    </p:spTree>
    <p:extLst>
      <p:ext uri="{BB962C8B-B14F-4D97-AF65-F5344CB8AC3E}">
        <p14:creationId xmlns:p14="http://schemas.microsoft.com/office/powerpoint/2010/main" val="32081928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4085426"/>
      </p:ext>
    </p:extLst>
  </p:cSld>
  <p:clrMapOvr>
    <a:masterClrMapping/>
  </p:clrMapOvr>
  <p:timing>
    <p:tnLst>
      <p:par>
        <p:cTn id="1" dur="indefinite" restart="never" nodeType="tmRoot"/>
      </p:par>
    </p:tnLst>
  </p:timing>
</p:sld>
</file>

<file path=ppt/theme/theme1.xml><?xml version="1.0" encoding="utf-8"?>
<a:theme xmlns:a="http://schemas.openxmlformats.org/drawingml/2006/main" name="Atos-Syntel">
  <a:themeElements>
    <a:clrScheme name="Atos-Syntel">
      <a:dk1>
        <a:sysClr val="windowText" lastClr="000000"/>
      </a:dk1>
      <a:lt1>
        <a:sysClr val="window" lastClr="FFFFFF"/>
      </a:lt1>
      <a:dk2>
        <a:srgbClr val="3F9C35"/>
      </a:dk2>
      <a:lt2>
        <a:srgbClr val="808080"/>
      </a:lt2>
      <a:accent1>
        <a:srgbClr val="0066A1"/>
      </a:accent1>
      <a:accent2>
        <a:srgbClr val="FF6319"/>
      </a:accent2>
      <a:accent3>
        <a:srgbClr val="AEA400"/>
      </a:accent3>
      <a:accent4>
        <a:srgbClr val="6639B7"/>
      </a:accent4>
      <a:accent5>
        <a:srgbClr val="A626AA"/>
      </a:accent5>
      <a:accent6>
        <a:srgbClr val="00B2A9"/>
      </a:accent6>
      <a:hlink>
        <a:srgbClr val="000000"/>
      </a:hlink>
      <a:folHlink>
        <a:srgbClr val="0563C1"/>
      </a:folHlink>
    </a:clrScheme>
    <a:fontScheme name="Custom 2">
      <a:majorFont>
        <a:latin typeface="Verdana"/>
        <a:ea typeface=""/>
        <a:cs typeface=""/>
      </a:majorFont>
      <a:minorFont>
        <a:latin typeface="Verdan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Atos Complementary Color Pink">
      <a:srgbClr val="D71F85"/>
    </a:custClr>
    <a:custClr name="Atos Complementary Color Dark Grey">
      <a:srgbClr val="898D8D"/>
    </a:custClr>
    <a:custClr name="Atos Complementary Color Light Blue">
      <a:srgbClr val="00AFD8"/>
    </a:custClr>
    <a:custClr name="Atos Complementary Color Blue">
      <a:srgbClr val="0089C4"/>
    </a:custClr>
  </a:custClrLst>
  <a:extLst>
    <a:ext uri="{05A4C25C-085E-4340-85A3-A5531E510DB2}">
      <thm15:themeFamily xmlns:thm15="http://schemas.microsoft.com/office/thememl/2012/main" name="Atos-Syntel Template - Syntel Size" id="{41A5C85C-DEA7-4B22-BFF0-90960A771E3D}" vid="{D457748D-5332-45EE-A8DA-DB86087FA1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Atos-Syntel Template</Template>
  <TotalTime>357</TotalTime>
  <Words>1106</Words>
  <Application>Microsoft Office PowerPoint</Application>
  <PresentationFormat>Widescreen</PresentationFormat>
  <Paragraphs>72</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Lucida Sans Unicode</vt:lpstr>
      <vt:lpstr>Verdana</vt:lpstr>
      <vt:lpstr>Atos-Syntel</vt:lpstr>
      <vt:lpstr>FP Deal flow in Right Price 2.0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Pathak, Shailendra</dc:creator>
  <cp:lastModifiedBy>Pathak, Shailendra</cp:lastModifiedBy>
  <cp:revision>29</cp:revision>
  <dcterms:created xsi:type="dcterms:W3CDTF">2019-02-20T09:40:57Z</dcterms:created>
  <dcterms:modified xsi:type="dcterms:W3CDTF">2019-02-26T11:15:55Z</dcterms:modified>
</cp:coreProperties>
</file>